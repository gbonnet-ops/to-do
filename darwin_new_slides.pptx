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Executive summary</a:t>
            </a:r>
            <a:r>
              <a:rPr sz="900">
                <a:solidFill>
                  <a:srgbClr val="65C4DA"/>
                </a:solidFill>
              </a:rPr>
              <a:t>    |   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234A"/>
                </a:solidFill>
              </a:defRPr>
            </a:pPr>
            <a:r>
              <a:t>Opportunity overview and illustrative post-transaction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5400000" cy="50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000" b="1">
                <a:solidFill>
                  <a:srgbClr val="15234A"/>
                </a:solidFill>
              </a:defRPr>
            </a:pPr>
            <a:r>
              <a:t>• GMSL is a unique and resilient asset combining 24/7 outsourced dispatching operations, mission-critical SaaS platforms, and UK CVA services</a:t>
            </a:r>
          </a:p>
          <a:p>
            <a:pPr>
              <a:spcAft>
                <a:spcPts val="400"/>
              </a:spcAft>
              <a:defRPr sz="1000">
                <a:solidFill>
                  <a:srgbClr val="15234A"/>
                </a:solidFill>
              </a:defRPr>
            </a:pPr>
            <a:r>
              <a:t>• Serving 130+ clients across multiple gas networks and power grids in Europe</a:t>
            </a:r>
          </a:p>
          <a:p>
            <a:pPr>
              <a:spcAft>
                <a:spcPts val="400"/>
              </a:spcAft>
              <a:defRPr sz="1000">
                <a:solidFill>
                  <a:srgbClr val="15234A"/>
                </a:solidFill>
              </a:defRPr>
            </a:pPr>
            <a:r>
              <a:t>• Strategic combination with Energy One to create a leading European energy market software and operations platform</a:t>
            </a:r>
          </a:p>
          <a:p>
            <a:pPr>
              <a:spcAft>
                <a:spcPts val="400"/>
              </a:spcAft>
              <a:defRPr sz="1000">
                <a:solidFill>
                  <a:srgbClr val="15234A"/>
                </a:solidFill>
              </a:defRPr>
            </a:pPr>
            <a:r>
              <a:t>• Highly recurring revenue model (software + managed services) with strong earnings visibility</a:t>
            </a:r>
          </a:p>
          <a:p>
            <a:pPr>
              <a:spcAft>
                <a:spcPts val="400"/>
              </a:spcAft>
              <a:defRPr sz="1000">
                <a:solidFill>
                  <a:srgbClr val="15234A"/>
                </a:solidFill>
              </a:defRPr>
            </a:pPr>
            <a:r>
              <a:t>• FY26F total revenue: £17,557k (Operations 58.3%, Software 33.8%)</a:t>
            </a:r>
          </a:p>
          <a:p>
            <a:pPr>
              <a:spcAft>
                <a:spcPts val="400"/>
              </a:spcAft>
              <a:defRPr sz="1000">
                <a:solidFill>
                  <a:srgbClr val="15234A"/>
                </a:solidFill>
              </a:defRPr>
            </a:pPr>
            <a:r>
              <a:t>• Structural growth driven by energy transition, rising power demand, and digitalisation of power markets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0000" y="1260000"/>
            <a:ext cx="5400000" cy="50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000" b="1">
                <a:solidFill>
                  <a:srgbClr val="15234A"/>
                </a:solidFill>
              </a:defRPr>
            </a:pPr>
            <a:r>
              <a:t>• Combined entity: GMSL + Energy One</a:t>
            </a:r>
          </a:p>
          <a:p>
            <a:pPr>
              <a:spcAft>
                <a:spcPts val="400"/>
              </a:spcAft>
              <a:defRPr sz="1000">
                <a:solidFill>
                  <a:srgbClr val="15234A"/>
                </a:solidFill>
              </a:defRPr>
            </a:pPr>
            <a:r>
              <a:t>• Leading European energy market software &amp; operations platform</a:t>
            </a:r>
          </a:p>
          <a:p>
            <a:pPr>
              <a:spcAft>
                <a:spcPts val="400"/>
              </a:spcAft>
              <a:defRPr sz="1000">
                <a:solidFill>
                  <a:srgbClr val="15234A"/>
                </a:solidFill>
              </a:defRPr>
            </a:pPr>
            <a:r>
              <a:t>• Complementary geographic coverage and product suites</a:t>
            </a:r>
          </a:p>
          <a:p>
            <a:pPr>
              <a:spcAft>
                <a:spcPts val="400"/>
              </a:spcAft>
              <a:defRPr sz="1000">
                <a:solidFill>
                  <a:srgbClr val="15234A"/>
                </a:solidFill>
              </a:defRPr>
            </a:pPr>
            <a:r>
              <a:t>• Enhanced cross-selling opportunities across client bases</a:t>
            </a:r>
          </a:p>
          <a:p>
            <a:pPr>
              <a:spcAft>
                <a:spcPts val="400"/>
              </a:spcAft>
              <a:defRPr sz="1000">
                <a:solidFill>
                  <a:srgbClr val="15234A"/>
                </a:solidFill>
              </a:defRPr>
            </a:pPr>
            <a:r>
              <a:t>• Accelerated commercial growth and expanded European footprint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0" y="5400000"/>
            <a:ext cx="5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999999"/>
                </a:solidFill>
              </a:defRPr>
            </a:pPr>
            <a:r>
              <a:t>[Org chart / structure diagram to be inserted]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Executive summary</a:t>
            </a:r>
            <a:r>
              <a:rPr sz="900">
                <a:solidFill>
                  <a:srgbClr val="65C4DA"/>
                </a:solidFill>
              </a:rPr>
              <a:t>    |   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234A"/>
                </a:solidFill>
              </a:defRPr>
            </a:pPr>
            <a:r>
              <a:t>Key Investment Highlights</a:t>
            </a:r>
          </a:p>
        </p:txBody>
      </p:sp>
      <p:sp>
        <p:nvSpPr>
          <p:cNvPr id="4" name="Oval 3"/>
          <p:cNvSpPr/>
          <p:nvPr/>
        </p:nvSpPr>
        <p:spPr>
          <a:xfrm>
            <a:off x="540000" y="1260000"/>
            <a:ext cx="432000" cy="432000"/>
          </a:xfrm>
          <a:prstGeom prst="ellipse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188000"/>
            <a:ext cx="30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A"/>
                </a:solidFill>
              </a:defRPr>
            </a:pPr>
            <a:r>
              <a:t>Mission-Critical</a:t>
            </a:r>
            <a:br/>
            <a:r>
              <a:t>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800000"/>
            <a:ext cx="34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24/7 outsourced dispatching at the heart of European energy flows. TSO connectivity to 200+ counterparties creates deep integration and high switching costs</a:t>
            </a:r>
          </a:p>
        </p:txBody>
      </p:sp>
      <p:sp>
        <p:nvSpPr>
          <p:cNvPr id="7" name="Oval 6"/>
          <p:cNvSpPr/>
          <p:nvPr/>
        </p:nvSpPr>
        <p:spPr>
          <a:xfrm>
            <a:off x="4320000" y="1260000"/>
            <a:ext cx="432000" cy="432000"/>
          </a:xfrm>
          <a:prstGeom prst="ellipse">
            <a:avLst/>
          </a:prstGeom>
          <a:solidFill>
            <a:srgbClr val="B6C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0000" y="1188000"/>
            <a:ext cx="30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A"/>
                </a:solidFill>
              </a:defRPr>
            </a:pPr>
            <a:r>
              <a:t>Highly Recurring</a:t>
            </a:r>
            <a:br/>
            <a: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0" y="1800000"/>
            <a:ext cx="34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Software &amp; managed services with annual contracts, automatic renewal, and inflation indexation. Strong earnings visibility with consistent cash conversion</a:t>
            </a:r>
          </a:p>
        </p:txBody>
      </p:sp>
      <p:sp>
        <p:nvSpPr>
          <p:cNvPr id="10" name="Oval 9"/>
          <p:cNvSpPr/>
          <p:nvPr/>
        </p:nvSpPr>
        <p:spPr>
          <a:xfrm>
            <a:off x="8100000" y="1260000"/>
            <a:ext cx="432000" cy="432000"/>
          </a:xfrm>
          <a:prstGeom prst="ellipse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0000" y="1188000"/>
            <a:ext cx="30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A"/>
                </a:solidFill>
              </a:defRPr>
            </a:pPr>
            <a:r>
              <a:t>Structural Market</a:t>
            </a:r>
            <a:br/>
            <a: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1800000"/>
            <a:ext cx="34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Rising power demand, infrastructure expansion, energy transition (H2, CO2), increasing market participants, and digitalisation drive expanding TAM</a:t>
            </a:r>
          </a:p>
        </p:txBody>
      </p:sp>
      <p:sp>
        <p:nvSpPr>
          <p:cNvPr id="13" name="Oval 12"/>
          <p:cNvSpPr/>
          <p:nvPr/>
        </p:nvSpPr>
        <p:spPr>
          <a:xfrm>
            <a:off x="540000" y="3960000"/>
            <a:ext cx="432000" cy="432000"/>
          </a:xfrm>
          <a:prstGeom prst="ellipse">
            <a:avLst/>
          </a:prstGeom>
          <a:solidFill>
            <a:srgbClr val="B6C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3888000"/>
            <a:ext cx="30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A"/>
                </a:solidFill>
              </a:defRPr>
            </a:pPr>
            <a:r>
              <a:t>Unique Competitive</a:t>
            </a:r>
            <a:br/>
            <a:r>
              <a:t>Moat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4500000"/>
            <a:ext cx="34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30 years of domain expertise, certified TSO connections, 24/7 operational capability, and regulatory mandates create formidable barriers to entry</a:t>
            </a:r>
          </a:p>
        </p:txBody>
      </p:sp>
      <p:sp>
        <p:nvSpPr>
          <p:cNvPr id="16" name="Oval 15"/>
          <p:cNvSpPr/>
          <p:nvPr/>
        </p:nvSpPr>
        <p:spPr>
          <a:xfrm>
            <a:off x="4320000" y="3960000"/>
            <a:ext cx="432000" cy="432000"/>
          </a:xfrm>
          <a:prstGeom prst="ellipse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0000" y="3888000"/>
            <a:ext cx="30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A"/>
                </a:solidFill>
              </a:defRPr>
            </a:pPr>
            <a:r>
              <a:t>Attractive</a:t>
            </a:r>
            <a:br/>
            <a:r>
              <a:t>Financial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0" y="4500000"/>
            <a:ext cx="34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FY26F revenue £17.6m with lean cost structure (83.5% staff costs). Target: £3.2m PAT + inflation. Growing subscription-based revenues</a:t>
            </a:r>
          </a:p>
        </p:txBody>
      </p:sp>
      <p:sp>
        <p:nvSpPr>
          <p:cNvPr id="19" name="Oval 18"/>
          <p:cNvSpPr/>
          <p:nvPr/>
        </p:nvSpPr>
        <p:spPr>
          <a:xfrm>
            <a:off x="8100000" y="3960000"/>
            <a:ext cx="432000" cy="432000"/>
          </a:xfrm>
          <a:prstGeom prst="ellipse">
            <a:avLst/>
          </a:prstGeom>
          <a:solidFill>
            <a:srgbClr val="B6C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0000" y="3888000"/>
            <a:ext cx="30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A"/>
                </a:solidFill>
              </a:defRPr>
            </a:pPr>
            <a:r>
              <a:t>Strategic</a:t>
            </a:r>
            <a:br/>
            <a:r>
              <a:t>Combination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0000" y="4500000"/>
            <a:ext cx="34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Combination with Energy One creates leading European energy market platform, accelerating growth through geographic expansion and cross-selling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Market</a:t>
            </a:r>
            <a:r>
              <a:rPr sz="900">
                <a:solidFill>
                  <a:srgbClr val="65C4DA"/>
                </a:solidFill>
              </a:rPr>
              <a:t>    |   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234A"/>
                </a:solidFill>
              </a:defRPr>
            </a:pPr>
            <a:r>
              <a:t>Market size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188000"/>
            <a:ext cx="2088000" cy="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5234A"/>
                </a:solidFill>
              </a:defRPr>
            </a:pPr>
            <a:r>
              <a:t>£17.6m</a:t>
            </a:r>
          </a:p>
          <a:p>
            <a:pPr algn="ctr">
              <a:defRPr sz="900">
                <a:solidFill>
                  <a:srgbClr val="2A385B"/>
                </a:solidFill>
              </a:defRPr>
            </a:pPr>
            <a:r>
              <a:t>GMSL FY26F 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8000" y="1188000"/>
            <a:ext cx="2088000" cy="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5234A"/>
                </a:solidFill>
              </a:defRPr>
            </a:pPr>
            <a:r>
              <a:t>139</a:t>
            </a:r>
          </a:p>
          <a:p>
            <a:pPr algn="ctr">
              <a:defRPr sz="900">
                <a:solidFill>
                  <a:srgbClr val="2A385B"/>
                </a:solidFill>
              </a:defRPr>
            </a:pPr>
            <a:r>
              <a:t>Client Relationships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6000" y="1188000"/>
            <a:ext cx="2088000" cy="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5234A"/>
                </a:solidFill>
              </a:defRPr>
            </a:pPr>
            <a:r>
              <a:t>200+</a:t>
            </a:r>
          </a:p>
          <a:p>
            <a:pPr algn="ctr">
              <a:defRPr sz="900">
                <a:solidFill>
                  <a:srgbClr val="2A385B"/>
                </a:solidFill>
              </a:defRPr>
            </a:pPr>
            <a:r>
              <a:t>TSO Counterparties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43999" y="1188000"/>
            <a:ext cx="2088000" cy="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5234A"/>
                </a:solidFill>
              </a:defRPr>
            </a:pPr>
            <a:r>
              <a:t>90+</a:t>
            </a:r>
          </a:p>
          <a:p>
            <a:pPr algn="ctr">
              <a:defRPr sz="900">
                <a:solidFill>
                  <a:srgbClr val="2A385B"/>
                </a:solidFill>
              </a:defRPr>
            </a:pPr>
            <a:r>
              <a:t>Operations Clients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12000" y="1188000"/>
            <a:ext cx="2088000" cy="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5234A"/>
                </a:solidFill>
              </a:defRPr>
            </a:pPr>
            <a:r>
              <a:t>100+</a:t>
            </a:r>
          </a:p>
          <a:p>
            <a:pPr algn="ctr">
              <a:defRPr sz="900">
                <a:solidFill>
                  <a:srgbClr val="2A385B"/>
                </a:solidFill>
              </a:defRPr>
            </a:pPr>
            <a:r>
              <a:t>Software Subscriptions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340000"/>
            <a:ext cx="5400000" cy="39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15234A"/>
                </a:solidFill>
              </a:defRPr>
            </a:pPr>
            <a:r>
              <a:t>• Growing power demand across Europe</a:t>
            </a:r>
          </a:p>
          <a:p>
            <a:pPr>
              <a:spcAft>
                <a:spcPts val="400"/>
              </a:spcAft>
              <a:defRPr sz="900">
                <a:solidFill>
                  <a:srgbClr val="15234A"/>
                </a:solidFill>
              </a:defRPr>
            </a:pPr>
            <a:r>
              <a:t>• Infrastructure build-out in gas and power networks</a:t>
            </a:r>
          </a:p>
          <a:p>
            <a:pPr>
              <a:spcAft>
                <a:spcPts val="400"/>
              </a:spcAft>
              <a:defRPr sz="900">
                <a:solidFill>
                  <a:srgbClr val="15234A"/>
                </a:solidFill>
              </a:defRPr>
            </a:pPr>
            <a:r>
              <a:t>• Increasing variability in power generation mix (renewables)</a:t>
            </a:r>
          </a:p>
          <a:p>
            <a:pPr>
              <a:spcAft>
                <a:spcPts val="400"/>
              </a:spcAft>
              <a:defRPr sz="900">
                <a:solidFill>
                  <a:srgbClr val="15234A"/>
                </a:solidFill>
              </a:defRPr>
            </a:pPr>
            <a:r>
              <a:t>• Rising number of market participants</a:t>
            </a:r>
          </a:p>
          <a:p>
            <a:pPr>
              <a:spcAft>
                <a:spcPts val="400"/>
              </a:spcAft>
              <a:defRPr sz="900">
                <a:solidFill>
                  <a:srgbClr val="15234A"/>
                </a:solidFill>
              </a:defRPr>
            </a:pPr>
            <a:r>
              <a:t>• Energy transition creating new commodities (H₂, CO₂) and new players</a:t>
            </a:r>
          </a:p>
          <a:p>
            <a:pPr>
              <a:spcAft>
                <a:spcPts val="400"/>
              </a:spcAft>
              <a:defRPr sz="900">
                <a:solidFill>
                  <a:srgbClr val="15234A"/>
                </a:solidFill>
              </a:defRPr>
            </a:pPr>
            <a:r>
              <a:t>• Digitalisation and automation of power markets</a:t>
            </a:r>
          </a:p>
          <a:p>
            <a:pPr>
              <a:spcAft>
                <a:spcPts val="400"/>
              </a:spcAft>
              <a:defRPr sz="900">
                <a:solidFill>
                  <a:srgbClr val="15234A"/>
                </a:solidFill>
              </a:defRPr>
            </a:pPr>
            <a:r>
              <a:t>• High barriers to entry: specialised knowledge, 24/7 requirements, certified TSO connectivity</a:t>
            </a:r>
          </a:p>
          <a:p>
            <a:pPr>
              <a:spcAft>
                <a:spcPts val="400"/>
              </a:spcAft>
              <a:defRPr sz="900">
                <a:solidFill>
                  <a:srgbClr val="15234A"/>
                </a:solidFill>
              </a:defRPr>
            </a:pPr>
            <a:r>
              <a:t>• Typical software contract values of £20k-£150k/year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2340000"/>
            <a:ext cx="5400000" cy="39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15234A"/>
                </a:solidFill>
              </a:defRPr>
            </a:pPr>
            <a:r>
              <a:t>• Strong presence: UK, Benelux, Germany, key European gas hubs</a:t>
            </a:r>
          </a:p>
          <a:p>
            <a:pPr>
              <a:spcAft>
                <a:spcPts val="400"/>
              </a:spcAft>
              <a:defRPr sz="900">
                <a:solidFill>
                  <a:srgbClr val="15234A"/>
                </a:solidFill>
              </a:defRPr>
            </a:pPr>
            <a:r>
              <a:t>• Chorus expansion: Italy (PSV confirmed, transit next), Spain, Central Europe</a:t>
            </a:r>
          </a:p>
          <a:p>
            <a:pPr>
              <a:spcAft>
                <a:spcPts val="400"/>
              </a:spcAft>
              <a:defRPr sz="900">
                <a:solidFill>
                  <a:srgbClr val="15234A"/>
                </a:solidFill>
              </a:defRPr>
            </a:pPr>
            <a:r>
              <a:t>• PowerTrak: expanding towards Central/Eastern Europe</a:t>
            </a:r>
          </a:p>
          <a:p>
            <a:pPr>
              <a:spcAft>
                <a:spcPts val="400"/>
              </a:spcAft>
              <a:defRPr sz="900">
                <a:solidFill>
                  <a:srgbClr val="15234A"/>
                </a:solidFill>
              </a:defRPr>
            </a:pPr>
            <a:r>
              <a:t>• EuroRunner: API modernisation and Edig@s v6.1 + PRISMA interface planned</a:t>
            </a:r>
          </a:p>
          <a:p>
            <a:pPr>
              <a:spcAft>
                <a:spcPts val="400"/>
              </a:spcAft>
              <a:defRPr sz="900">
                <a:solidFill>
                  <a:srgbClr val="15234A"/>
                </a:solidFill>
              </a:defRPr>
            </a:pPr>
            <a:r>
              <a:t>• 90+ operations clients and 100+ software subscriptions = fraction of total European gas &amp; power participants</a:t>
            </a:r>
          </a:p>
          <a:p>
            <a:pPr>
              <a:spcAft>
                <a:spcPts val="400"/>
              </a:spcAft>
              <a:defRPr sz="900">
                <a:solidFill>
                  <a:srgbClr val="15234A"/>
                </a:solidFill>
              </a:defRPr>
            </a:pPr>
            <a:r>
              <a:t>• Significant whitespace in addressable market remains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5580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999999"/>
                </a:solidFill>
              </a:defRPr>
            </a:pPr>
            <a:r>
              <a:t>[TAM chart / market sizing graph to be inserted from Infopack]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Market</a:t>
            </a:r>
            <a:r>
              <a:rPr sz="900">
                <a:solidFill>
                  <a:srgbClr val="65C4DA"/>
                </a:solidFill>
              </a:rPr>
              <a:t>    |   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34A"/>
                </a:solidFill>
              </a:defRPr>
            </a:pPr>
            <a:r>
              <a:t>Competitive landscape of energy scheduling &amp; dispatching providers in 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2A385B"/>
                </a:solidFill>
              </a:defRPr>
            </a:pPr>
            <a:r>
              <a:t>GMSL is a niche, ultra-performant player in scheduling energy flows — competitors are more diversified but less best-of-breed on this specific segment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512000"/>
          <a:ext cx="127440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1512000"/>
                <a:gridCol w="1512000"/>
                <a:gridCol w="1512000"/>
                <a:gridCol w="1512000"/>
                <a:gridCol w="1512000"/>
                <a:gridCol w="1512000"/>
                <a:gridCol w="1512000"/>
              </a:tblGrid>
              <a:tr h="585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523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GMSL</a:t>
                      </a:r>
                    </a:p>
                  </a:txBody>
                  <a:tcPr>
                    <a:solidFill>
                      <a:srgbClr val="1523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Energy One</a:t>
                      </a:r>
                    </a:p>
                  </a:txBody>
                  <a:tcPr>
                    <a:solidFill>
                      <a:srgbClr val="1523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Brady</a:t>
                      </a:r>
                    </a:p>
                  </a:txBody>
                  <a:tcPr>
                    <a:solidFill>
                      <a:srgbClr val="1523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NavitaSoft</a:t>
                      </a:r>
                    </a:p>
                  </a:txBody>
                  <a:tcPr>
                    <a:solidFill>
                      <a:srgbClr val="1523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DispoGas</a:t>
                      </a:r>
                    </a:p>
                  </a:txBody>
                  <a:tcPr>
                    <a:solidFill>
                      <a:srgbClr val="1523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Volue</a:t>
                      </a:r>
                    </a:p>
                  </a:txBody>
                  <a:tcPr>
                    <a:solidFill>
                      <a:srgbClr val="15234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5234A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E8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5234A"/>
                          </a:solidFill>
                        </a:defRPr>
                      </a:pPr>
                      <a:r>
                        <a:t>Revenue Growth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E8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5234A"/>
                          </a:solidFill>
                        </a:defRPr>
                      </a:pPr>
                      <a:r>
                        <a:t>EBITDA / EBITDA Margin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E8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5234A"/>
                          </a:solidFill>
                        </a:defRPr>
                      </a:pPr>
                      <a:r>
                        <a:t># of Acquisitions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E8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5234A"/>
                          </a:solidFill>
                        </a:defRPr>
                      </a:pPr>
                      <a:r>
                        <a:t>Revenue Quality</a:t>
                      </a:r>
                    </a:p>
                    <a:p>
                      <a:pPr>
                        <a:defRPr sz="800" b="1">
                          <a:solidFill>
                            <a:srgbClr val="15234A"/>
                          </a:solidFill>
                        </a:defRPr>
                      </a:pPr>
                      <a:r>
                        <a:t>(% Software Revenue)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E8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5234A"/>
                          </a:solidFill>
                        </a:defRPr>
                      </a:pPr>
                      <a:r>
                        <a:t># of Clients / Churn 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E8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5234A"/>
                          </a:solidFill>
                        </a:defRPr>
                      </a:pPr>
                      <a:r>
                        <a:t># TSO Connections in EU</a:t>
                      </a:r>
                    </a:p>
                    <a:p>
                      <a:pPr>
                        <a:defRPr sz="800" b="1">
                          <a:solidFill>
                            <a:srgbClr val="15234A"/>
                          </a:solidFill>
                        </a:defRPr>
                      </a:pPr>
                      <a:r>
                        <a:t>24/7 Coverage Gas/Power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E8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A385B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Product &amp; Services</a:t>
            </a:r>
            <a:r>
              <a:rPr sz="900">
                <a:solidFill>
                  <a:srgbClr val="65C4DA"/>
                </a:solidFill>
              </a:rPr>
              <a:t>    |   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34A"/>
                </a:solidFill>
              </a:defRPr>
            </a:pPr>
            <a:r>
              <a:t>GMSL is positioned at the heart of the energy exchange 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6480000" cy="50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5234A"/>
                </a:solidFill>
              </a:defRPr>
            </a:pPr>
            <a:r>
              <a:t>GMSL Connectivity Map in Europe</a:t>
            </a:r>
          </a:p>
          <a:p>
            <a:br/>
            <a:br/>
            <a:pPr algn="ctr">
              <a:defRPr sz="1000" i="1">
                <a:solidFill>
                  <a:srgbClr val="999999"/>
                </a:solidFill>
              </a:defRPr>
            </a:pPr>
            <a:r>
              <a:t>[Map to be sourced from:</a:t>
            </a:r>
            <a:br/>
            <a:r>
              <a:t>P.8 GMSL Asset Fiche</a:t>
            </a:r>
            <a:br/>
            <a:r>
              <a:t>3. Marketing materials &gt; 4. Additional Materials]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80000" y="1260000"/>
            <a:ext cx="4320000" cy="50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5234A"/>
                </a:solidFill>
              </a:defRPr>
            </a:pPr>
            <a:r>
              <a:t>Why Clients Use GMSL</a:t>
            </a:r>
          </a:p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• Single connection point to 200+ TSO/SSO counterparties via MessageRouter</a:t>
            </a:r>
          </a:p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• 24/7/365 outsourced dispatching from Cambridge control room</a:t>
            </a:r>
          </a:p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• Mission-critical scheduling &amp; nomination software (gas + power)</a:t>
            </a:r>
          </a:p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• Certified TSO connectivity across European networks</a:t>
            </a:r>
          </a:p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• 30+ years of specialised energy market knowledge</a:t>
            </a:r>
          </a:p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• Regulatory compliance (Edig@s, AS2, AS4 protocols)</a:t>
            </a:r>
          </a:p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• High reliability: dedicated DR facility, hot-standby site</a:t>
            </a:r>
          </a:p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• Cost-effective vs. building in-house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80000" y="5760000"/>
            <a:ext cx="43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999999"/>
                </a:solidFill>
              </a:defRPr>
            </a:pPr>
            <a:r>
              <a:t>[Text source: Slide 7 Skeleton Grégoire]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Product &amp; Services</a:t>
            </a:r>
            <a:r>
              <a:rPr sz="900">
                <a:solidFill>
                  <a:srgbClr val="65C4DA"/>
                </a:solidFill>
              </a:rPr>
              <a:t>    |  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34A"/>
                </a:solidFill>
              </a:defRPr>
            </a:pPr>
            <a:r>
              <a:t>GMSL has a strong track record of product expansion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0000" y="3420000"/>
            <a:ext cx="10080000" cy="54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440000"/>
            <a:ext cx="1980000" cy="18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5234A"/>
                </a:solidFill>
              </a:defRPr>
            </a:pPr>
            <a:r>
              <a:t>CodeRunner</a:t>
            </a:r>
          </a:p>
          <a:p>
            <a:pPr algn="ctr"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Gas nomination</a:t>
            </a:r>
            <a:br/>
            <a:r>
              <a:t>&amp; scheduling</a:t>
            </a:r>
          </a:p>
          <a:p>
            <a:pPr algn="ctr">
              <a:defRPr sz="800">
                <a:solidFill>
                  <a:srgbClr val="65C4DA"/>
                </a:solidFill>
              </a:defRPr>
            </a:pPr>
            <a:r>
              <a:t>UK gas networks</a:t>
            </a:r>
            <a:br/>
            <a:r>
              <a:t>Fluxys, NBP</a:t>
            </a:r>
          </a:p>
        </p:txBody>
      </p:sp>
      <p:sp>
        <p:nvSpPr>
          <p:cNvPr id="6" name="Oval 5"/>
          <p:cNvSpPr/>
          <p:nvPr/>
        </p:nvSpPr>
        <p:spPr>
          <a:xfrm>
            <a:off x="1547999" y="3276000"/>
            <a:ext cx="324000" cy="324000"/>
          </a:xfrm>
          <a:prstGeom prst="ellipse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3671999"/>
            <a:ext cx="19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[Launch date TBC]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51999" y="1440000"/>
            <a:ext cx="1980000" cy="18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5234A"/>
                </a:solidFill>
              </a:defRPr>
            </a:pPr>
            <a:r>
              <a:t>EuroRunner</a:t>
            </a:r>
          </a:p>
          <a:p>
            <a:pPr algn="ctr"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Multi-network gas</a:t>
            </a:r>
            <a:br/>
            <a:r>
              <a:t>portfolio management</a:t>
            </a:r>
          </a:p>
          <a:p>
            <a:pPr algn="ctr">
              <a:defRPr sz="800">
                <a:solidFill>
                  <a:srgbClr val="B6CF2B"/>
                </a:solidFill>
              </a:defRPr>
            </a:pPr>
            <a:r>
              <a:t>European gas hubs</a:t>
            </a:r>
            <a:br/>
            <a:r>
              <a:t>Benelux, Germany</a:t>
            </a:r>
          </a:p>
        </p:txBody>
      </p:sp>
      <p:sp>
        <p:nvSpPr>
          <p:cNvPr id="9" name="Oval 8"/>
          <p:cNvSpPr/>
          <p:nvPr/>
        </p:nvSpPr>
        <p:spPr>
          <a:xfrm>
            <a:off x="3779998" y="3276000"/>
            <a:ext cx="324000" cy="324000"/>
          </a:xfrm>
          <a:prstGeom prst="ellipse">
            <a:avLst/>
          </a:prstGeom>
          <a:solidFill>
            <a:srgbClr val="B6C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1999" y="3671999"/>
            <a:ext cx="19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[Launch date TBC]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84000" y="1440000"/>
            <a:ext cx="1980000" cy="18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5234A"/>
                </a:solidFill>
              </a:defRPr>
            </a:pPr>
            <a:r>
              <a:t>ENOM / ENOM+</a:t>
            </a:r>
          </a:p>
          <a:p>
            <a:pPr algn="ctr"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Energy nomination</a:t>
            </a:r>
            <a:br/>
            <a:r>
              <a:t>workflow</a:t>
            </a:r>
          </a:p>
          <a:p>
            <a:pPr algn="ctr">
              <a:defRPr sz="800">
                <a:solidFill>
                  <a:srgbClr val="65C4DA"/>
                </a:solidFill>
              </a:defRPr>
            </a:pPr>
            <a:r>
              <a:t>UK &amp; European</a:t>
            </a:r>
            <a:br/>
            <a:r>
              <a:t>gas markets</a:t>
            </a:r>
          </a:p>
        </p:txBody>
      </p:sp>
      <p:sp>
        <p:nvSpPr>
          <p:cNvPr id="12" name="Oval 11"/>
          <p:cNvSpPr/>
          <p:nvPr/>
        </p:nvSpPr>
        <p:spPr>
          <a:xfrm>
            <a:off x="6011999" y="3276000"/>
            <a:ext cx="324000" cy="324000"/>
          </a:xfrm>
          <a:prstGeom prst="ellipse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4000" y="3671999"/>
            <a:ext cx="19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[Launch date TBC]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6000" y="1440000"/>
            <a:ext cx="1980000" cy="18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5234A"/>
                </a:solidFill>
              </a:defRPr>
            </a:pPr>
            <a:r>
              <a:t>PowerTrak</a:t>
            </a:r>
          </a:p>
          <a:p>
            <a:pPr algn="ctr"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Power scheduling</a:t>
            </a:r>
            <a:br/>
            <a:r>
              <a:t>with ETRM integration</a:t>
            </a:r>
          </a:p>
          <a:p>
            <a:pPr algn="ctr">
              <a:defRPr sz="800">
                <a:solidFill>
                  <a:srgbClr val="B6CF2B"/>
                </a:solidFill>
              </a:defRPr>
            </a:pPr>
            <a:r>
              <a:t>European power</a:t>
            </a:r>
            <a:br/>
            <a:r>
              <a:t>markets</a:t>
            </a:r>
          </a:p>
        </p:txBody>
      </p:sp>
      <p:sp>
        <p:nvSpPr>
          <p:cNvPr id="15" name="Oval 14"/>
          <p:cNvSpPr/>
          <p:nvPr/>
        </p:nvSpPr>
        <p:spPr>
          <a:xfrm>
            <a:off x="8243999" y="3276000"/>
            <a:ext cx="324000" cy="324000"/>
          </a:xfrm>
          <a:prstGeom prst="ellipse">
            <a:avLst/>
          </a:prstGeom>
          <a:solidFill>
            <a:srgbClr val="B6C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6000" y="3671999"/>
            <a:ext cx="19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[Launch date TBC]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8000" y="1440000"/>
            <a:ext cx="1980000" cy="18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5234A"/>
                </a:solidFill>
              </a:defRPr>
            </a:pPr>
            <a:r>
              <a:t>Chorus</a:t>
            </a:r>
          </a:p>
          <a:p>
            <a:pPr algn="ctr"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Modern cloud-native</a:t>
            </a:r>
            <a:br/>
            <a:r>
              <a:t>SaaS platform</a:t>
            </a:r>
          </a:p>
          <a:p>
            <a:pPr algn="ctr">
              <a:defRPr sz="800">
                <a:solidFill>
                  <a:srgbClr val="65C4DA"/>
                </a:solidFill>
              </a:defRPr>
            </a:pPr>
            <a:r>
              <a:t>Italy, Spain</a:t>
            </a:r>
            <a:br/>
            <a:r>
              <a:t>Central Europe</a:t>
            </a:r>
          </a:p>
        </p:txBody>
      </p:sp>
      <p:sp>
        <p:nvSpPr>
          <p:cNvPr id="18" name="Oval 17"/>
          <p:cNvSpPr/>
          <p:nvPr/>
        </p:nvSpPr>
        <p:spPr>
          <a:xfrm>
            <a:off x="10475999" y="3276000"/>
            <a:ext cx="324000" cy="324000"/>
          </a:xfrm>
          <a:prstGeom prst="ellipse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8000" y="3671999"/>
            <a:ext cx="19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[Launch date TBC]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0000" y="4320000"/>
            <a:ext cx="11160000" cy="1980000"/>
          </a:xfrm>
          <a:prstGeom prst="roundRect">
            <a:avLst/>
          </a:prstGeom>
          <a:solidFill>
            <a:srgbClr val="F8F0E0"/>
          </a:solidFill>
          <a:ln w="9525">
            <a:solidFill>
              <a:srgbClr val="E0C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15234A"/>
                </a:solidFill>
              </a:defRPr>
            </a:pPr>
            <a:r>
              <a:t>Product Roadmap (inputs needed from management)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→ EuroRunner API modernisation and Edig@s v6.1 upgrade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→ PRISMA interface integration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→ Chorus expansion to new European markets (Italy transit, Spain, Central Europe)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→ PowerTrak Central/Eastern Europe rollout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→ Full cloud migration strategy (AWS) for legacy products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→ ENOM client migration to Chorus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Product &amp; Services</a:t>
            </a:r>
            <a:r>
              <a:rPr sz="900">
                <a:solidFill>
                  <a:srgbClr val="65C4DA"/>
                </a:solidFill>
              </a:rPr>
              <a:t>    |   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34A"/>
                </a:solidFill>
              </a:defRPr>
            </a:pPr>
            <a:r>
              <a:t>GMSL is a unique asset at the crossroads of energy operations and software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3528000" cy="252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3200" b="1">
                <a:solidFill>
                  <a:srgbClr val="65C4DA"/>
                </a:solidFill>
              </a:defRPr>
            </a:pPr>
            <a:r>
              <a:t>58.3%</a:t>
            </a:r>
          </a:p>
          <a:p>
            <a:pPr algn="ctr">
              <a:spcAft>
                <a:spcPts val="800"/>
              </a:spcAft>
              <a:defRPr sz="1400" b="1">
                <a:solidFill>
                  <a:srgbClr val="15234A"/>
                </a:solidFill>
              </a:defRPr>
            </a:pPr>
            <a:r>
              <a:t>£10.2m</a:t>
            </a:r>
          </a:p>
          <a:p>
            <a:pPr algn="ctr">
              <a:defRPr sz="900">
                <a:solidFill>
                  <a:srgbClr val="2A385B"/>
                </a:solidFill>
              </a:defRPr>
            </a:pPr>
            <a:r>
              <a:t>Shipper Ops + TSO Ops</a:t>
            </a:r>
            <a:br/>
            <a:r>
              <a:t>24/7 outsourced dispatching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3528000" cy="180000"/>
          </a:xfrm>
          <a:prstGeom prst="rect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0" y="1260000"/>
            <a:ext cx="3528000" cy="252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3200" b="1">
                <a:solidFill>
                  <a:srgbClr val="B6CF2B"/>
                </a:solidFill>
              </a:defRPr>
            </a:pPr>
            <a:r>
              <a:t>33.8%</a:t>
            </a:r>
          </a:p>
          <a:p>
            <a:pPr algn="ctr">
              <a:spcAft>
                <a:spcPts val="800"/>
              </a:spcAft>
              <a:defRPr sz="1400" b="1">
                <a:solidFill>
                  <a:srgbClr val="15234A"/>
                </a:solidFill>
              </a:defRPr>
            </a:pPr>
            <a:r>
              <a:t>£5.9m</a:t>
            </a:r>
          </a:p>
          <a:p>
            <a:pPr algn="ctr">
              <a:defRPr sz="900">
                <a:solidFill>
                  <a:srgbClr val="2A385B"/>
                </a:solidFill>
              </a:defRPr>
            </a:pPr>
            <a:r>
              <a:t>Chorus, EuroRunner, CodeRunner</a:t>
            </a:r>
            <a:br/>
            <a:r>
              <a:t>PowerTrak, ENOM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0" y="1260000"/>
            <a:ext cx="3528000" cy="180000"/>
          </a:xfrm>
          <a:prstGeom prst="rect">
            <a:avLst/>
          </a:prstGeom>
          <a:solidFill>
            <a:srgbClr val="B6C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0000" y="1260000"/>
            <a:ext cx="3528000" cy="252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5C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3200" b="1">
                <a:solidFill>
                  <a:srgbClr val="95CD9C"/>
                </a:solidFill>
              </a:defRPr>
            </a:pPr>
            <a:r>
              <a:t>7.9%</a:t>
            </a:r>
          </a:p>
          <a:p>
            <a:pPr algn="ctr">
              <a:spcAft>
                <a:spcPts val="800"/>
              </a:spcAft>
              <a:defRPr sz="1400" b="1">
                <a:solidFill>
                  <a:srgbClr val="15234A"/>
                </a:solidFill>
              </a:defRPr>
            </a:pPr>
            <a:r>
              <a:t>£1.4m</a:t>
            </a:r>
          </a:p>
          <a:p>
            <a:pPr algn="ctr">
              <a:defRPr sz="900">
                <a:solidFill>
                  <a:srgbClr val="2A385B"/>
                </a:solidFill>
              </a:defRPr>
            </a:pPr>
            <a:r>
              <a:t>Sole Claims Validation Agent</a:t>
            </a:r>
            <a:br/>
            <a:r>
              <a:t>for UK beach terminals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00000" y="1260000"/>
            <a:ext cx="3528000" cy="180000"/>
          </a:xfrm>
          <a:prstGeom prst="rect">
            <a:avLst/>
          </a:prstGeom>
          <a:solidFill>
            <a:srgbClr val="95C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4140000"/>
            <a:ext cx="11160000" cy="21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5234A"/>
                </a:solidFill>
              </a:defRPr>
            </a:pPr>
            <a:r>
              <a:t>FY26F Total Revenue: £17,557k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Combined software + operations offering creates unique value proposition in European energy scheduling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Mission-critical 24/7 services drive deep client integration and high switching costs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Growing recurring revenue base with annual inflation indexation and evergreen contracts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Lean cost structure with staff costs at 83.5% of total OpEx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6192000"/>
            <a:ext cx="72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[Sources: Slide 6 – GMSL Asset Fiche / Screenshot Grégoire]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Product &amp; Services</a:t>
            </a:r>
            <a:r>
              <a:rPr sz="900">
                <a:solidFill>
                  <a:srgbClr val="65C4DA"/>
                </a:solidFill>
              </a:rPr>
              <a:t>    |   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34A"/>
                </a:solidFill>
              </a:defRPr>
            </a:pPr>
            <a:r>
              <a:t>Europe's leading outsourced energy dispatching 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188000"/>
            <a:ext cx="2088000" cy="1007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5234A"/>
                </a:solidFill>
              </a:defRPr>
            </a:pPr>
            <a:r>
              <a:t>24/7/365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Dispatching Operations</a:t>
            </a:r>
            <a:br/>
            <a:r>
              <a:t>from Cambridge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8000" y="1188000"/>
            <a:ext cx="2088000" cy="1007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5234A"/>
                </a:solidFill>
              </a:defRPr>
            </a:pPr>
            <a:r>
              <a:t>60+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Operations Staff</a:t>
            </a:r>
            <a:br/>
            <a:r>
              <a:t>(Shipper + TSO Ops)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6000" y="1188000"/>
            <a:ext cx="2088000" cy="1007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5234A"/>
                </a:solidFill>
              </a:defRPr>
            </a:pPr>
            <a:r>
              <a:t>90+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Client Companies</a:t>
            </a:r>
            <a:br/>
            <a:r>
              <a:t>across Europe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43999" y="1188000"/>
            <a:ext cx="2088000" cy="1007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5234A"/>
                </a:solidFill>
              </a:defRPr>
            </a:pPr>
            <a:r>
              <a:t>200+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TSO/SSO</a:t>
            </a:r>
            <a:br/>
            <a:r>
              <a:t>Counterparties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12000" y="1188000"/>
            <a:ext cx="2088000" cy="1007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5234A"/>
                </a:solidFill>
              </a:defRPr>
            </a:pPr>
            <a:r>
              <a:t>Multiple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Gas Networks &amp;</a:t>
            </a:r>
            <a:br/>
            <a:r>
              <a:t>Power Grids Covered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520000"/>
            <a:ext cx="5400000" cy="37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15234A"/>
                </a:solidFill>
              </a:defRPr>
            </a:pPr>
            <a:r>
              <a:t>Shipper Operations (£7.5m FY26F)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Day-ahead position import from ETRM systems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Automated nomination to TSOs via Edig@s / AS2 / AS4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Real-time matching and balancing display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Within-day re-nominations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Post-day allocations and reporting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Portfolio management across multiple networks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Clients: Shell, BP, TotalEnergies, Vitol, Trafigura, Centrica, ExxonMobil, Glencore, and 70+ others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2520000"/>
            <a:ext cx="5400000" cy="37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15234A"/>
                </a:solidFill>
              </a:defRPr>
            </a:pPr>
            <a:r>
              <a:t>TSO Operations (£2.7m FY26F)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Physically separate team for compliance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15 dedicated TSO operators (1 Mgr, 2 TLs, 6 Senior, 6 Junior)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Network monitoring and balancing operations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Capacity booking and allocation management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DR facility in Cambridge with 24/7 IT cover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Hot-standby site for business continuity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Dedicated coverage for networks, hardware and communications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6192000"/>
            <a:ext cx="72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[Sources: GMSL Asset Fiche p.6, p.9 / gmsl.co.uk/operations]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Product &amp; Services</a:t>
            </a:r>
            <a:r>
              <a:rPr sz="900">
                <a:solidFill>
                  <a:srgbClr val="65C4DA"/>
                </a:solidFill>
              </a:rPr>
              <a:t>    |  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34A"/>
                </a:solidFill>
              </a:defRPr>
            </a:pPr>
            <a:r>
              <a:t>A purpose-built software suite covering the full scheduling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188000"/>
            <a:ext cx="2196000" cy="511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800" b="1">
                <a:solidFill>
                  <a:srgbClr val="15234A"/>
                </a:solidFill>
              </a:defRPr>
            </a:pPr>
            <a:r>
              <a:t>Overview</a:t>
            </a:r>
          </a:p>
          <a:p>
            <a:pPr>
              <a:spcAft>
                <a:spcPts val="600"/>
              </a:spcAft>
              <a:defRPr sz="800">
                <a:solidFill>
                  <a:srgbClr val="2A385B"/>
                </a:solidFill>
              </a:defRPr>
            </a:pPr>
            <a:r>
              <a:t>Gas nomination &amp; scheduling for UK networks</a:t>
            </a:r>
          </a:p>
          <a:p>
            <a:pPr>
              <a:defRPr sz="800" b="1">
                <a:solidFill>
                  <a:srgbClr val="15234A"/>
                </a:solidFill>
              </a:defRPr>
            </a:pPr>
            <a:r>
              <a:t>Market Coverage</a:t>
            </a:r>
          </a:p>
          <a:p>
            <a:pPr>
              <a:spcAft>
                <a:spcPts val="600"/>
              </a:spcAft>
              <a:defRPr sz="800">
                <a:solidFill>
                  <a:srgbClr val="2A385B"/>
                </a:solidFill>
              </a:defRPr>
            </a:pPr>
            <a:r>
              <a:t>UK gas (NBP, Fluxys)</a:t>
            </a:r>
          </a:p>
          <a:p>
            <a:pPr>
              <a:defRPr sz="800" b="1">
                <a:solidFill>
                  <a:srgbClr val="15234A"/>
                </a:solidFill>
              </a:defRPr>
            </a:pPr>
            <a:r>
              <a:t>Key Features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Automated gas nominations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TSO connectivity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Real-time balancing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Position management</a:t>
            </a:r>
          </a:p>
          <a:p>
            <a:pPr>
              <a:spcBef>
                <a:spcPts val="600"/>
              </a:spcBef>
              <a:defRPr sz="800" b="1">
                <a:solidFill>
                  <a:srgbClr val="15234A"/>
                </a:solidFill>
              </a:defRPr>
            </a:pPr>
            <a:r>
              <a:t>Delivery Model</a:t>
            </a:r>
          </a:p>
          <a:p>
            <a:pPr>
              <a:defRPr sz="800">
                <a:solidFill>
                  <a:srgbClr val="2A385B"/>
                </a:solidFill>
              </a:defRPr>
            </a:pPr>
            <a:r>
              <a:t>On-premise / Hosted</a:t>
            </a:r>
          </a:p>
          <a:p>
            <a:pPr>
              <a:spcBef>
                <a:spcPts val="600"/>
              </a:spcBef>
              <a:defRPr sz="800" b="1">
                <a:solidFill>
                  <a:srgbClr val="15234A"/>
                </a:solidFill>
              </a:defRPr>
            </a:pPr>
            <a:r>
              <a:t>Launch Date</a:t>
            </a:r>
          </a:p>
          <a:p>
            <a:pPr>
              <a:defRPr sz="700" i="1">
                <a:solidFill>
                  <a:srgbClr val="999999"/>
                </a:solidFill>
              </a:defRPr>
            </a:pPr>
            <a:r>
              <a:t>[See Fluxys Timeline]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188000"/>
            <a:ext cx="2196000" cy="432000"/>
          </a:xfrm>
          <a:prstGeom prst="rect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CodeRunner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0000" y="1188000"/>
            <a:ext cx="2196000" cy="511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800" b="1">
                <a:solidFill>
                  <a:srgbClr val="15234A"/>
                </a:solidFill>
              </a:defRPr>
            </a:pPr>
            <a:r>
              <a:t>Overview</a:t>
            </a:r>
          </a:p>
          <a:p>
            <a:pPr>
              <a:spcAft>
                <a:spcPts val="600"/>
              </a:spcAft>
              <a:defRPr sz="800">
                <a:solidFill>
                  <a:srgbClr val="2A385B"/>
                </a:solidFill>
              </a:defRPr>
            </a:pPr>
            <a:r>
              <a:t>Multi-network gas portfolio management</a:t>
            </a:r>
          </a:p>
          <a:p>
            <a:pPr>
              <a:defRPr sz="800" b="1">
                <a:solidFill>
                  <a:srgbClr val="15234A"/>
                </a:solidFill>
              </a:defRPr>
            </a:pPr>
            <a:r>
              <a:t>Market Coverage</a:t>
            </a:r>
          </a:p>
          <a:p>
            <a:pPr>
              <a:spcAft>
                <a:spcPts val="600"/>
              </a:spcAft>
              <a:defRPr sz="800">
                <a:solidFill>
                  <a:srgbClr val="2A385B"/>
                </a:solidFill>
              </a:defRPr>
            </a:pPr>
            <a:r>
              <a:t>European gas hubs (Benelux, DE)</a:t>
            </a:r>
          </a:p>
          <a:p>
            <a:pPr>
              <a:defRPr sz="800" b="1">
                <a:solidFill>
                  <a:srgbClr val="15234A"/>
                </a:solidFill>
              </a:defRPr>
            </a:pPr>
            <a:r>
              <a:t>Key Features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Multi-network portfolios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Edig@s v6.1 upgrade planned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API modernisation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PRISMA interface</a:t>
            </a:r>
          </a:p>
          <a:p>
            <a:pPr>
              <a:spcBef>
                <a:spcPts val="600"/>
              </a:spcBef>
              <a:defRPr sz="800" b="1">
                <a:solidFill>
                  <a:srgbClr val="15234A"/>
                </a:solidFill>
              </a:defRPr>
            </a:pPr>
            <a:r>
              <a:t>Delivery Model</a:t>
            </a:r>
          </a:p>
          <a:p>
            <a:pPr>
              <a:defRPr sz="800">
                <a:solidFill>
                  <a:srgbClr val="2A385B"/>
                </a:solidFill>
              </a:defRPr>
            </a:pPr>
            <a:r>
              <a:t>On-premise / Hosted</a:t>
            </a:r>
          </a:p>
          <a:p>
            <a:pPr>
              <a:spcBef>
                <a:spcPts val="600"/>
              </a:spcBef>
              <a:defRPr sz="800" b="1">
                <a:solidFill>
                  <a:srgbClr val="15234A"/>
                </a:solidFill>
              </a:defRPr>
            </a:pPr>
            <a:r>
              <a:t>Launch Date</a:t>
            </a:r>
          </a:p>
          <a:p>
            <a:pPr>
              <a:defRPr sz="700" i="1">
                <a:solidFill>
                  <a:srgbClr val="999999"/>
                </a:solidFill>
              </a:defRPr>
            </a:pPr>
            <a:r>
              <a:t>[See Fluxys Timeline]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0000" y="1188000"/>
            <a:ext cx="2196000" cy="432000"/>
          </a:xfrm>
          <a:prstGeom prst="rect">
            <a:avLst/>
          </a:prstGeom>
          <a:solidFill>
            <a:srgbClr val="B6C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EuroRunner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1188000"/>
            <a:ext cx="2196000" cy="511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800" b="1">
                <a:solidFill>
                  <a:srgbClr val="15234A"/>
                </a:solidFill>
              </a:defRPr>
            </a:pPr>
            <a:r>
              <a:t>Overview</a:t>
            </a:r>
          </a:p>
          <a:p>
            <a:pPr>
              <a:spcAft>
                <a:spcPts val="600"/>
              </a:spcAft>
              <a:defRPr sz="800">
                <a:solidFill>
                  <a:srgbClr val="2A385B"/>
                </a:solidFill>
              </a:defRPr>
            </a:pPr>
            <a:r>
              <a:t>Energy nomination workflow</a:t>
            </a:r>
          </a:p>
          <a:p>
            <a:pPr>
              <a:defRPr sz="800" b="1">
                <a:solidFill>
                  <a:srgbClr val="15234A"/>
                </a:solidFill>
              </a:defRPr>
            </a:pPr>
            <a:r>
              <a:t>Market Coverage</a:t>
            </a:r>
          </a:p>
          <a:p>
            <a:pPr>
              <a:spcAft>
                <a:spcPts val="600"/>
              </a:spcAft>
              <a:defRPr sz="800">
                <a:solidFill>
                  <a:srgbClr val="2A385B"/>
                </a:solidFill>
              </a:defRPr>
            </a:pPr>
            <a:r>
              <a:t>UK &amp; European gas</a:t>
            </a:r>
          </a:p>
          <a:p>
            <a:pPr>
              <a:defRPr sz="800" b="1">
                <a:solidFill>
                  <a:srgbClr val="15234A"/>
                </a:solidFill>
              </a:defRPr>
            </a:pPr>
            <a:r>
              <a:t>Key Features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Nomination workflows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Matching &amp; allocation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Client migration to Chorus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Legacy platform</a:t>
            </a:r>
          </a:p>
          <a:p>
            <a:pPr>
              <a:spcBef>
                <a:spcPts val="600"/>
              </a:spcBef>
              <a:defRPr sz="800" b="1">
                <a:solidFill>
                  <a:srgbClr val="15234A"/>
                </a:solidFill>
              </a:defRPr>
            </a:pPr>
            <a:r>
              <a:t>Delivery Model</a:t>
            </a:r>
          </a:p>
          <a:p>
            <a:pPr>
              <a:defRPr sz="800">
                <a:solidFill>
                  <a:srgbClr val="2A385B"/>
                </a:solidFill>
              </a:defRPr>
            </a:pPr>
            <a:r>
              <a:t>On-premise / Hosted</a:t>
            </a:r>
          </a:p>
          <a:p>
            <a:pPr>
              <a:spcBef>
                <a:spcPts val="600"/>
              </a:spcBef>
              <a:defRPr sz="800" b="1">
                <a:solidFill>
                  <a:srgbClr val="15234A"/>
                </a:solidFill>
              </a:defRPr>
            </a:pPr>
            <a:r>
              <a:t>Launch Date</a:t>
            </a:r>
          </a:p>
          <a:p>
            <a:pPr>
              <a:defRPr sz="700" i="1">
                <a:solidFill>
                  <a:srgbClr val="999999"/>
                </a:solidFill>
              </a:defRPr>
            </a:pPr>
            <a:r>
              <a:t>[See Fluxys Timeline]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0" y="1188000"/>
            <a:ext cx="2196000" cy="432000"/>
          </a:xfrm>
          <a:prstGeom prst="rect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ENOM / ENOM+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80000" y="1188000"/>
            <a:ext cx="2196000" cy="511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800" b="1">
                <a:solidFill>
                  <a:srgbClr val="15234A"/>
                </a:solidFill>
              </a:defRPr>
            </a:pPr>
            <a:r>
              <a:t>Overview</a:t>
            </a:r>
          </a:p>
          <a:p>
            <a:pPr>
              <a:spcAft>
                <a:spcPts val="600"/>
              </a:spcAft>
              <a:defRPr sz="800">
                <a:solidFill>
                  <a:srgbClr val="2A385B"/>
                </a:solidFill>
              </a:defRPr>
            </a:pPr>
            <a:r>
              <a:t>Power scheduling with ETRM integration</a:t>
            </a:r>
          </a:p>
          <a:p>
            <a:pPr>
              <a:defRPr sz="800" b="1">
                <a:solidFill>
                  <a:srgbClr val="15234A"/>
                </a:solidFill>
              </a:defRPr>
            </a:pPr>
            <a:r>
              <a:t>Market Coverage</a:t>
            </a:r>
          </a:p>
          <a:p>
            <a:pPr>
              <a:spcAft>
                <a:spcPts val="600"/>
              </a:spcAft>
              <a:defRPr sz="800">
                <a:solidFill>
                  <a:srgbClr val="2A385B"/>
                </a:solidFill>
              </a:defRPr>
            </a:pPr>
            <a:r>
              <a:t>European power markets</a:t>
            </a:r>
          </a:p>
          <a:p>
            <a:pPr>
              <a:defRPr sz="800" b="1">
                <a:solidFill>
                  <a:srgbClr val="15234A"/>
                </a:solidFill>
              </a:defRPr>
            </a:pPr>
            <a:r>
              <a:t>Key Features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Web-based interface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ETRM integration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Central/Eastern EU expansion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Power scheduling</a:t>
            </a:r>
          </a:p>
          <a:p>
            <a:pPr>
              <a:spcBef>
                <a:spcPts val="600"/>
              </a:spcBef>
              <a:defRPr sz="800" b="1">
                <a:solidFill>
                  <a:srgbClr val="15234A"/>
                </a:solidFill>
              </a:defRPr>
            </a:pPr>
            <a:r>
              <a:t>Delivery Model</a:t>
            </a:r>
          </a:p>
          <a:p>
            <a:pPr>
              <a:defRPr sz="800">
                <a:solidFill>
                  <a:srgbClr val="2A385B"/>
                </a:solidFill>
              </a:defRPr>
            </a:pPr>
            <a:r>
              <a:t>On-premise / Hosted</a:t>
            </a:r>
          </a:p>
          <a:p>
            <a:pPr>
              <a:spcBef>
                <a:spcPts val="600"/>
              </a:spcBef>
              <a:defRPr sz="800" b="1">
                <a:solidFill>
                  <a:srgbClr val="15234A"/>
                </a:solidFill>
              </a:defRPr>
            </a:pPr>
            <a:r>
              <a:t>Launch Date</a:t>
            </a:r>
          </a:p>
          <a:p>
            <a:pPr>
              <a:defRPr sz="700" i="1">
                <a:solidFill>
                  <a:srgbClr val="999999"/>
                </a:solidFill>
              </a:defRPr>
            </a:pPr>
            <a:r>
              <a:t>[See Fluxys Timeline]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80000" y="1188000"/>
            <a:ext cx="2196000" cy="432000"/>
          </a:xfrm>
          <a:prstGeom prst="rect">
            <a:avLst/>
          </a:prstGeom>
          <a:solidFill>
            <a:srgbClr val="B6C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PowerTrak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20000" y="1188000"/>
            <a:ext cx="2196000" cy="511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800" b="1">
                <a:solidFill>
                  <a:srgbClr val="15234A"/>
                </a:solidFill>
              </a:defRPr>
            </a:pPr>
            <a:r>
              <a:t>Overview</a:t>
            </a:r>
          </a:p>
          <a:p>
            <a:pPr>
              <a:spcAft>
                <a:spcPts val="600"/>
              </a:spcAft>
              <a:defRPr sz="800">
                <a:solidFill>
                  <a:srgbClr val="2A385B"/>
                </a:solidFill>
              </a:defRPr>
            </a:pPr>
            <a:r>
              <a:t>Modern cloud-native SaaS platform</a:t>
            </a:r>
          </a:p>
          <a:p>
            <a:pPr>
              <a:defRPr sz="800" b="1">
                <a:solidFill>
                  <a:srgbClr val="15234A"/>
                </a:solidFill>
              </a:defRPr>
            </a:pPr>
            <a:r>
              <a:t>Market Coverage</a:t>
            </a:r>
          </a:p>
          <a:p>
            <a:pPr>
              <a:spcAft>
                <a:spcPts val="600"/>
              </a:spcAft>
              <a:defRPr sz="800">
                <a:solidFill>
                  <a:srgbClr val="2A385B"/>
                </a:solidFill>
              </a:defRPr>
            </a:pPr>
            <a:r>
              <a:t>Italy (PSV), Spain, Central EU</a:t>
            </a:r>
          </a:p>
          <a:p>
            <a:pPr>
              <a:defRPr sz="800" b="1">
                <a:solidFill>
                  <a:srgbClr val="15234A"/>
                </a:solidFill>
              </a:defRPr>
            </a:pPr>
            <a:r>
              <a:t>Key Features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Cloud-native (AWS)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Modern SaaS UI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Next-gen platform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Replacing legacy products</a:t>
            </a:r>
          </a:p>
          <a:p>
            <a:pPr>
              <a:spcBef>
                <a:spcPts val="600"/>
              </a:spcBef>
              <a:defRPr sz="800" b="1">
                <a:solidFill>
                  <a:srgbClr val="15234A"/>
                </a:solidFill>
              </a:defRPr>
            </a:pPr>
            <a:r>
              <a:t>Delivery Model</a:t>
            </a:r>
          </a:p>
          <a:p>
            <a:pPr>
              <a:defRPr sz="800">
                <a:solidFill>
                  <a:srgbClr val="2A385B"/>
                </a:solidFill>
              </a:defRPr>
            </a:pPr>
            <a:r>
              <a:t>SaaS / Hosted</a:t>
            </a:r>
          </a:p>
          <a:p>
            <a:pPr>
              <a:spcBef>
                <a:spcPts val="600"/>
              </a:spcBef>
              <a:defRPr sz="800" b="1">
                <a:solidFill>
                  <a:srgbClr val="15234A"/>
                </a:solidFill>
              </a:defRPr>
            </a:pPr>
            <a:r>
              <a:t>Launch Date</a:t>
            </a:r>
          </a:p>
          <a:p>
            <a:pPr>
              <a:defRPr sz="700" i="1">
                <a:solidFill>
                  <a:srgbClr val="999999"/>
                </a:solidFill>
              </a:defRPr>
            </a:pPr>
            <a:r>
              <a:t>[See Fluxys Timeline]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20000" y="1188000"/>
            <a:ext cx="2196000" cy="432000"/>
          </a:xfrm>
          <a:prstGeom prst="rect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Chorus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6228000"/>
            <a:ext cx="90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[Management to confirm launch date of Chorus | Sources: Asset Fiche p.10, Fluxys Timeline in 4. Additional Materials]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Product &amp; Services</a:t>
            </a:r>
            <a:r>
              <a:rPr sz="900">
                <a:solidFill>
                  <a:srgbClr val="65C4DA"/>
                </a:solidFill>
              </a:rPr>
              <a:t>    |   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34A"/>
                </a:solidFill>
              </a:defRPr>
            </a:pPr>
            <a:r>
              <a:t>Sole Claims Validation Agent for all UK beach terminals since 2004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6480000" cy="50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5234A"/>
                </a:solidFill>
              </a:defRPr>
            </a:pPr>
            <a:r>
              <a:t>UK Beach Terminal Network</a:t>
            </a:r>
          </a:p>
          <a:p>
            <a:br/>
            <a:br/>
            <a:pPr algn="ctr">
              <a:defRPr sz="1000" i="1">
                <a:solidFill>
                  <a:srgbClr val="999999"/>
                </a:solidFill>
              </a:defRPr>
            </a:pPr>
            <a:r>
              <a:t>[Map to be sourced from:</a:t>
            </a:r>
            <a:br/>
            <a:r>
              <a:t>P.8 GMSL Asset Fiche</a:t>
            </a:r>
            <a:br/>
            <a:r>
              <a:t>3. Marketing materials &gt; 4. Additional Materials]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80000" y="1260000"/>
            <a:ext cx="4320000" cy="50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5234A"/>
                </a:solidFill>
              </a:defRPr>
            </a:pPr>
            <a:r>
              <a:t>Claims Validation Agent (CVA)</a:t>
            </a:r>
          </a:p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• Sole CVA for all UK beach terminals since 2004</a:t>
            </a:r>
          </a:p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• FY26F CVA revenue: £1.4m (7.9% of total)</a:t>
            </a:r>
          </a:p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• Birmingham-based team of 3 dedicated specialists</a:t>
            </a:r>
          </a:p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• Monopoly position with no competing providers</a:t>
            </a:r>
          </a:p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• Validates gas allocation claims at UK entry/exit points</a:t>
            </a:r>
          </a:p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• Mission-critical role in UK gas market infrastructure</a:t>
            </a:r>
          </a:p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• Regulatory mandate ensures continued demand</a:t>
            </a:r>
          </a:p>
          <a:p>
            <a:pPr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• Long-term stable revenue stream with minimal churn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Product &amp; Services</a:t>
            </a:r>
            <a:r>
              <a:rPr sz="900">
                <a:solidFill>
                  <a:srgbClr val="65C4DA"/>
                </a:solidFill>
              </a:rPr>
              <a:t>    |   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34A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188000"/>
            <a:ext cx="3528000" cy="259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Chorus hosted on AWS across multiple availability zones (99.9% uptime target)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EuroRunner &amp; CodeRunner hosted on GMSL servers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Full cloud migration strategy underway for scalability and resilience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3528000" cy="360000"/>
          </a:xfrm>
          <a:prstGeom prst="rect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Cloud &amp; Hosting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0" y="1188000"/>
            <a:ext cx="3528000" cy="259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ISO 27001 certified (November 2025)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CyberVadis Gold status (score: 932/1000)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Aligned with GDPR, NIST, ISO 27001, NIS2 and DORA standards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Regular audits by Fluxys Internal Audit and client questionnaires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0" y="1188000"/>
            <a:ext cx="3528000" cy="360000"/>
          </a:xfrm>
          <a:prstGeom prst="rect">
            <a:avLst/>
          </a:prstGeom>
          <a:solidFill>
            <a:srgbClr val="B6C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0000" y="1188000"/>
            <a:ext cx="3528000" cy="259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MessageRouter: single API to 200+ counterparties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Protocols: AS2, AS4, FTPS, SFTP, web services, ECP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Edig@s messaging standard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8100000" y="1188000"/>
            <a:ext cx="3528000" cy="360000"/>
          </a:xfrm>
          <a:prstGeom prst="rect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Connectivity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996000"/>
            <a:ext cx="3528000" cy="259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Dedicated DR facility in Cambridge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24/7 IT cover for networks, hardware and communications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Hot-standby site for business continuity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3996000"/>
            <a:ext cx="3528000" cy="360000"/>
          </a:xfrm>
          <a:prstGeom prst="rect">
            <a:avLst/>
          </a:prstGeom>
          <a:solidFill>
            <a:srgbClr val="B6C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Disaster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3996000"/>
            <a:ext cx="3528000" cy="259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100% developed and maintained in-house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40-person IT team: 20 devs, 11 product owners, 9 testers, 4 cloud engineers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30 years of accumulated domain expertise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0" y="3996000"/>
            <a:ext cx="3528000" cy="360000"/>
          </a:xfrm>
          <a:prstGeom prst="rect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Product &amp; Services</a:t>
            </a:r>
            <a:r>
              <a:rPr sz="900">
                <a:solidFill>
                  <a:srgbClr val="65C4DA"/>
                </a:solidFill>
              </a:rPr>
              <a:t>    | 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34A"/>
                </a:solidFill>
              </a:defRPr>
            </a:pPr>
            <a:r>
              <a:t>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3528000" cy="50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400"/>
              </a:spcBef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• Chorus: Italy PSV confirmed, transit pipeline next</a:t>
            </a:r>
          </a:p>
          <a:p>
            <a:pPr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• EuroRunner API modernisation</a:t>
            </a:r>
          </a:p>
          <a:p>
            <a:pPr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• Edig@s v6.1 implementation</a:t>
            </a:r>
          </a:p>
          <a:p>
            <a:pPr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• PRISMA interface development</a:t>
            </a:r>
          </a:p>
          <a:p>
            <a:pPr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• Continue ISO 27001 audit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3528000" cy="540000"/>
          </a:xfrm>
          <a:prstGeom prst="rect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Short-term</a:t>
            </a:r>
            <a:br/>
            <a:r>
              <a:t>(0-12 months)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0" y="1260000"/>
            <a:ext cx="3528000" cy="50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400"/>
              </a:spcBef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• Chorus expansion: Spain and Central Europe</a:t>
            </a:r>
          </a:p>
          <a:p>
            <a:pPr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• PowerTrak: Central/Eastern Europe rollout</a:t>
            </a:r>
          </a:p>
          <a:p>
            <a:pPr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• ENOM client migration to Chorus</a:t>
            </a:r>
          </a:p>
          <a:p>
            <a:pPr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• Cloud migration of legacy products</a:t>
            </a:r>
          </a:p>
          <a:p>
            <a:pPr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• MessageRouter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0" y="1260000"/>
            <a:ext cx="3528000" cy="540000"/>
          </a:xfrm>
          <a:prstGeom prst="rect">
            <a:avLst/>
          </a:prstGeom>
          <a:solidFill>
            <a:srgbClr val="B6C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Medium-term</a:t>
            </a:r>
            <a:br/>
            <a:r>
              <a:t>(12-24 months)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0000" y="1260000"/>
            <a:ext cx="3528000" cy="50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5C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400"/>
              </a:spcBef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• Full European coverage for Chorus</a:t>
            </a:r>
          </a:p>
          <a:p>
            <a:pPr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• Complete cloud-native migration</a:t>
            </a:r>
          </a:p>
          <a:p>
            <a:pPr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• New connectivity options</a:t>
            </a:r>
          </a:p>
          <a:p>
            <a:pPr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• Hydrogen &amp; CO₂ market support</a:t>
            </a:r>
          </a:p>
          <a:p>
            <a:pPr>
              <a:spcAft>
                <a:spcPts val="600"/>
              </a:spcAft>
              <a:defRPr sz="900">
                <a:solidFill>
                  <a:srgbClr val="2A385B"/>
                </a:solidFill>
              </a:defRPr>
            </a:pPr>
            <a:r>
              <a:t>• AI/automation for dispatching operations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00000" y="1260000"/>
            <a:ext cx="3528000" cy="540000"/>
          </a:xfrm>
          <a:prstGeom prst="rect">
            <a:avLst/>
          </a:prstGeom>
          <a:solidFill>
            <a:srgbClr val="95C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Long-term</a:t>
            </a:r>
            <a:br/>
            <a:r>
              <a:t>(24+ months)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6228000"/>
            <a:ext cx="90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[Detailed technological/product roadmap to be sourced from Infopack]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Product &amp; Services</a:t>
            </a:r>
            <a:r>
              <a:rPr sz="900">
                <a:solidFill>
                  <a:srgbClr val="65C4DA"/>
                </a:solidFill>
              </a:rPr>
              <a:t>    |   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34A"/>
                </a:solidFill>
              </a:defRPr>
            </a:pPr>
            <a:r>
              <a:t>User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1980000" cy="16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1000" b="1">
                <a:solidFill>
                  <a:srgbClr val="15234A"/>
                </a:solidFill>
              </a:defRPr>
            </a:pPr>
            <a:r>
              <a:t>Day-ahead</a:t>
            </a:r>
            <a:br/>
            <a:r>
              <a:t>Position Import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Position import</a:t>
            </a:r>
            <a:br/>
            <a:r>
              <a:t>from ETRM</a:t>
            </a:r>
          </a:p>
        </p:txBody>
      </p:sp>
      <p:sp>
        <p:nvSpPr>
          <p:cNvPr id="5" name="Oval 4"/>
          <p:cNvSpPr/>
          <p:nvPr/>
        </p:nvSpPr>
        <p:spPr>
          <a:xfrm>
            <a:off x="1260000" y="1080000"/>
            <a:ext cx="432000" cy="432000"/>
          </a:xfrm>
          <a:prstGeom prst="ellipse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20000" y="1872000"/>
            <a:ext cx="288000" cy="216000"/>
          </a:xfrm>
          <a:prstGeom prst="rightArrow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08000" y="1260000"/>
            <a:ext cx="1980000" cy="16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1000" b="1">
                <a:solidFill>
                  <a:srgbClr val="15234A"/>
                </a:solidFill>
              </a:defRPr>
            </a:pPr>
            <a:r>
              <a:t>Automated</a:t>
            </a:r>
            <a:br/>
            <a:r>
              <a:t>Nomination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To TSOs via</a:t>
            </a:r>
            <a:br/>
            <a:r>
              <a:t>Edig@s/AS2/AS4</a:t>
            </a:r>
          </a:p>
        </p:txBody>
      </p:sp>
      <p:sp>
        <p:nvSpPr>
          <p:cNvPr id="8" name="Oval 7"/>
          <p:cNvSpPr/>
          <p:nvPr/>
        </p:nvSpPr>
        <p:spPr>
          <a:xfrm>
            <a:off x="3528000" y="1080000"/>
            <a:ext cx="432000" cy="432000"/>
          </a:xfrm>
          <a:prstGeom prst="ellipse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88000" y="1872000"/>
            <a:ext cx="288000" cy="216000"/>
          </a:xfrm>
          <a:prstGeom prst="rightArrow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76000" y="1260000"/>
            <a:ext cx="1980000" cy="16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1000" b="1">
                <a:solidFill>
                  <a:srgbClr val="15234A"/>
                </a:solidFill>
              </a:defRPr>
            </a:pPr>
            <a:r>
              <a:t>Real-time</a:t>
            </a:r>
            <a:br/>
            <a:r>
              <a:t>Matching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Matching and</a:t>
            </a:r>
            <a:br/>
            <a:r>
              <a:t>balancing display</a:t>
            </a:r>
          </a:p>
        </p:txBody>
      </p:sp>
      <p:sp>
        <p:nvSpPr>
          <p:cNvPr id="11" name="Oval 10"/>
          <p:cNvSpPr/>
          <p:nvPr/>
        </p:nvSpPr>
        <p:spPr>
          <a:xfrm>
            <a:off x="5796000" y="1080000"/>
            <a:ext cx="432000" cy="432000"/>
          </a:xfrm>
          <a:prstGeom prst="ellipse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56000" y="1872000"/>
            <a:ext cx="288000" cy="216000"/>
          </a:xfrm>
          <a:prstGeom prst="rightArrow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43999" y="1260000"/>
            <a:ext cx="1980000" cy="16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1000" b="1">
                <a:solidFill>
                  <a:srgbClr val="15234A"/>
                </a:solidFill>
              </a:defRPr>
            </a:pPr>
            <a:r>
              <a:t>Within-day</a:t>
            </a:r>
            <a:br/>
            <a:r>
              <a:t>Re-nominations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Intraday</a:t>
            </a:r>
            <a:br/>
            <a:r>
              <a:t>adjustments</a:t>
            </a:r>
          </a:p>
        </p:txBody>
      </p:sp>
      <p:sp>
        <p:nvSpPr>
          <p:cNvPr id="14" name="Oval 13"/>
          <p:cNvSpPr/>
          <p:nvPr/>
        </p:nvSpPr>
        <p:spPr>
          <a:xfrm>
            <a:off x="8063999" y="1080000"/>
            <a:ext cx="432000" cy="432000"/>
          </a:xfrm>
          <a:prstGeom prst="ellipse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23999" y="1872000"/>
            <a:ext cx="288000" cy="216000"/>
          </a:xfrm>
          <a:prstGeom prst="rightArrow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12000" y="1260000"/>
            <a:ext cx="1980000" cy="16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1000" b="1">
                <a:solidFill>
                  <a:srgbClr val="15234A"/>
                </a:solidFill>
              </a:defRPr>
            </a:pPr>
            <a:r>
              <a:t>Post-day</a:t>
            </a:r>
            <a:br/>
            <a:r>
              <a:t>Allocations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Allocations</a:t>
            </a:r>
            <a:br/>
            <a:r>
              <a:t>and reporting</a:t>
            </a:r>
          </a:p>
        </p:txBody>
      </p:sp>
      <p:sp>
        <p:nvSpPr>
          <p:cNvPr id="17" name="Oval 16"/>
          <p:cNvSpPr/>
          <p:nvPr/>
        </p:nvSpPr>
        <p:spPr>
          <a:xfrm>
            <a:off x="10332000" y="1080000"/>
            <a:ext cx="432000" cy="432000"/>
          </a:xfrm>
          <a:prstGeom prst="ellipse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000" y="3060000"/>
            <a:ext cx="11160000" cy="432000"/>
          </a:xfrm>
          <a:prstGeom prst="round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All supported 24/7/365 from Cambridge control room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3671999"/>
            <a:ext cx="1980000" cy="262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5234A"/>
                </a:solidFill>
              </a:defRPr>
            </a:pPr>
            <a:r>
              <a:t>CodeRunner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Nomination screen</a:t>
            </a:r>
          </a:p>
          <a:p>
            <a:br/>
            <a:pPr algn="ctr">
              <a:defRPr sz="800" i="1">
                <a:solidFill>
                  <a:srgbClr val="999999"/>
                </a:solidFill>
              </a:defRPr>
            </a:pPr>
            <a:r>
              <a:t>[Anonymised UI</a:t>
            </a:r>
            <a:br/>
            <a:r>
              <a:t>screenshot to be</a:t>
            </a:r>
            <a:br/>
            <a:r>
              <a:t>sourced from</a:t>
            </a:r>
            <a:br/>
            <a:r>
              <a:t>GMSL management]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08000" y="3671999"/>
            <a:ext cx="1980000" cy="262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5234A"/>
                </a:solidFill>
              </a:defRPr>
            </a:pPr>
            <a:r>
              <a:t>EuroRunner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Scheduling dashboard</a:t>
            </a:r>
          </a:p>
          <a:p>
            <a:br/>
            <a:pPr algn="ctr">
              <a:defRPr sz="800" i="1">
                <a:solidFill>
                  <a:srgbClr val="999999"/>
                </a:solidFill>
              </a:defRPr>
            </a:pPr>
            <a:r>
              <a:t>[Anonymised UI</a:t>
            </a:r>
            <a:br/>
            <a:r>
              <a:t>screenshot to be</a:t>
            </a:r>
            <a:br/>
            <a:r>
              <a:t>sourced from</a:t>
            </a:r>
            <a:br/>
            <a:r>
              <a:t>GMSL management]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6000" y="3671999"/>
            <a:ext cx="1980000" cy="262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5234A"/>
                </a:solidFill>
              </a:defRPr>
            </a:pPr>
            <a:r>
              <a:t>ENOM/ENOM+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Workflow view</a:t>
            </a:r>
          </a:p>
          <a:p>
            <a:br/>
            <a:pPr algn="ctr">
              <a:defRPr sz="800" i="1">
                <a:solidFill>
                  <a:srgbClr val="999999"/>
                </a:solidFill>
              </a:defRPr>
            </a:pPr>
            <a:r>
              <a:t>[Anonymised UI</a:t>
            </a:r>
            <a:br/>
            <a:r>
              <a:t>screenshot to be</a:t>
            </a:r>
            <a:br/>
            <a:r>
              <a:t>sourced from</a:t>
            </a:r>
            <a:br/>
            <a:r>
              <a:t>GMSL management]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43999" y="3671999"/>
            <a:ext cx="1980000" cy="262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5234A"/>
                </a:solidFill>
              </a:defRPr>
            </a:pPr>
            <a:r>
              <a:t>PowerTrak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Power interface</a:t>
            </a:r>
          </a:p>
          <a:p>
            <a:br/>
            <a:pPr algn="ctr">
              <a:defRPr sz="800" i="1">
                <a:solidFill>
                  <a:srgbClr val="999999"/>
                </a:solidFill>
              </a:defRPr>
            </a:pPr>
            <a:r>
              <a:t>[Anonymised UI</a:t>
            </a:r>
            <a:br/>
            <a:r>
              <a:t>screenshot to be</a:t>
            </a:r>
            <a:br/>
            <a:r>
              <a:t>sourced from</a:t>
            </a:r>
            <a:br/>
            <a:r>
              <a:t>GMSL management]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12000" y="3671999"/>
            <a:ext cx="1980000" cy="262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5234A"/>
                </a:solidFill>
              </a:defRPr>
            </a:pPr>
            <a:r>
              <a:t>Chorus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Modern SaaS UI</a:t>
            </a:r>
          </a:p>
          <a:p>
            <a:br/>
            <a:pPr algn="ctr">
              <a:defRPr sz="800" i="1">
                <a:solidFill>
                  <a:srgbClr val="999999"/>
                </a:solidFill>
              </a:defRPr>
            </a:pPr>
            <a:r>
              <a:t>[Anonymised UI</a:t>
            </a:r>
            <a:br/>
            <a:r>
              <a:t>screenshot to be</a:t>
            </a:r>
            <a:br/>
            <a:r>
              <a:t>sourced from</a:t>
            </a:r>
            <a:br/>
            <a:r>
              <a:t>GMSL management]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Clients &amp; Operations</a:t>
            </a:r>
            <a:r>
              <a:rPr sz="900">
                <a:solidFill>
                  <a:srgbClr val="65C4DA"/>
                </a:solidFill>
              </a:rPr>
              <a:t>    |   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34A"/>
                </a:solidFill>
              </a:defRPr>
            </a:pPr>
            <a:r>
              <a:t>Client base deep dive – Software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188000"/>
            <a:ext cx="2592000" cy="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5234A"/>
                </a:solidFill>
              </a:defRPr>
            </a:pPr>
            <a:r>
              <a:t>£5.9m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FY26F Software</a:t>
            </a:r>
            <a:br/>
            <a:r>
              <a:t>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0000" y="1188000"/>
            <a:ext cx="2592000" cy="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5234A"/>
                </a:solidFill>
              </a:defRPr>
            </a:pPr>
            <a:r>
              <a:t>100+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Software</a:t>
            </a:r>
            <a:br/>
            <a:r>
              <a:t>Subscriptions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000" y="1188000"/>
            <a:ext cx="2592000" cy="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5234A"/>
                </a:solidFill>
              </a:defRPr>
            </a:pPr>
            <a:r>
              <a:t>1-year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Contracts, auto-</a:t>
            </a:r>
            <a:br/>
            <a:r>
              <a:t>renewal, 3m notice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0000" y="1188000"/>
            <a:ext cx="2592000" cy="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5234A"/>
                </a:solidFill>
              </a:defRPr>
            </a:pPr>
            <a:r>
              <a:t>£20k-£150k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Typical annual</a:t>
            </a:r>
            <a:br/>
            <a:r>
              <a:t>contract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5400000" cy="39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15234A"/>
                </a:solidFill>
              </a:defRPr>
            </a:pPr>
            <a:r>
              <a:t>Revenue Breakdown by Product (FY26F)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5234A"/>
                </a:solidFill>
              </a:rPr>
              <a:t>Chorus &amp; ENOM: </a:t>
            </a:r>
            <a:r>
              <a:rPr sz="1000" b="1">
                <a:solidFill>
                  <a:srgbClr val="65C4DA"/>
                </a:solidFill>
              </a:rPr>
              <a:t>£1,168k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5234A"/>
                </a:solidFill>
              </a:rPr>
              <a:t>EuroRunner: </a:t>
            </a:r>
            <a:r>
              <a:rPr sz="1000" b="1">
                <a:solidFill>
                  <a:srgbClr val="65C4DA"/>
                </a:solidFill>
              </a:rPr>
              <a:t>£950k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5234A"/>
                </a:solidFill>
              </a:rPr>
              <a:t>CodeRunner: </a:t>
            </a:r>
            <a:r>
              <a:rPr sz="1000" b="1">
                <a:solidFill>
                  <a:srgbClr val="65C4DA"/>
                </a:solidFill>
              </a:rPr>
              <a:t>£269k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5234A"/>
                </a:solidFill>
              </a:rPr>
              <a:t>PowerTrak: </a:t>
            </a:r>
            <a:r>
              <a:rPr sz="1000" b="1">
                <a:solidFill>
                  <a:srgbClr val="65C4DA"/>
                </a:solidFill>
              </a:rPr>
              <a:t>£1,231k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5234A"/>
                </a:solidFill>
              </a:rPr>
              <a:t>Hosting: </a:t>
            </a:r>
            <a:r>
              <a:rPr sz="1000" b="1">
                <a:solidFill>
                  <a:srgbClr val="65C4DA"/>
                </a:solidFill>
              </a:rPr>
              <a:t>£1,100k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5234A"/>
                </a:solidFill>
              </a:rPr>
              <a:t>Message Routing: </a:t>
            </a:r>
            <a:r>
              <a:rPr sz="1000" b="1">
                <a:solidFill>
                  <a:srgbClr val="65C4DA"/>
                </a:solidFill>
              </a:rPr>
              <a:t>£1,221k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000" y="2340000"/>
            <a:ext cx="5400000" cy="39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15234A"/>
                </a:solidFill>
              </a:defRPr>
            </a:pPr>
            <a:r>
              <a:t>Client Dynamics &amp; Growth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Long-term subscription-based model with annual inflation indexation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Revenue grown from £12.2m (2017) to £17.6m (FY26F) — c.4.4% CAGR over 9 years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Base fee per product + additional fees for extra markets and connections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Top 5 clients: c.27% of total revenue (£4.8m)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Top 10 clients: c.42% of total revenue (£7.3m)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Remaining 129 clients: £10.2m (58%)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Top clients include Fluxys entities (£1.6m) and CVSL (£1.3m)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Commercial team: 2 managers (ex-operations) + 1 coordinator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Limited marketing spend (£98k FY26F) — niche market driven by reputation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Growth strategy: Chorus &amp; PowerTrak expansion to Spain, Central/Eastern Europe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Clients &amp; Operations</a:t>
            </a:r>
            <a:r>
              <a:rPr sz="900">
                <a:solidFill>
                  <a:srgbClr val="65C4DA"/>
                </a:solidFill>
              </a:rPr>
              <a:t>    |  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34A"/>
                </a:solidFill>
              </a:defRPr>
            </a:pPr>
            <a:r>
              <a:t>Client base deep dive –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188000"/>
            <a:ext cx="2592000" cy="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5234A"/>
                </a:solidFill>
              </a:defRPr>
            </a:pPr>
            <a:r>
              <a:t>£10.2m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FY26F Operations</a:t>
            </a:r>
            <a:br/>
            <a:r>
              <a:t>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0000" y="1188000"/>
            <a:ext cx="2592000" cy="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5234A"/>
                </a:solidFill>
              </a:defRPr>
            </a:pPr>
            <a:r>
              <a:t>90+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Operations</a:t>
            </a:r>
            <a:br/>
            <a:r>
              <a:t>Clients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000" y="1188000"/>
            <a:ext cx="2592000" cy="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5234A"/>
                </a:solidFill>
              </a:defRPr>
            </a:pPr>
            <a:r>
              <a:t>£7.5m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Shipper Ops</a:t>
            </a:r>
            <a:br/>
            <a:r>
              <a:t>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0000" y="1188000"/>
            <a:ext cx="2592000" cy="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5234A"/>
                </a:solidFill>
              </a:defRPr>
            </a:pPr>
            <a:r>
              <a:t>£2.7m</a:t>
            </a:r>
          </a:p>
          <a:p>
            <a:pPr algn="ctr">
              <a:defRPr sz="800">
                <a:solidFill>
                  <a:srgbClr val="2A385B"/>
                </a:solidFill>
              </a:defRPr>
            </a:pPr>
            <a:r>
              <a:t>TSO Ops</a:t>
            </a:r>
            <a:br/>
            <a:r>
              <a:t>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5400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15234A"/>
                </a:solidFill>
              </a:defRPr>
            </a:pPr>
            <a:r>
              <a:t>Contract Structure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Annual fee, invoiced monthly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1-year initial fixed term → evergreen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6-month termination notice period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Annual indexation + price re-opener on scope changes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4320000"/>
            <a:ext cx="11160000" cy="19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15234A"/>
                </a:solidFill>
              </a:defRPr>
            </a:pPr>
            <a:r>
              <a:t>Key Operations Clients</a:t>
            </a:r>
          </a:p>
          <a:p>
            <a:pPr algn="ctr"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Shell  •  BP  •  TotalEnergies  •  Vitol  •  Trafigura  •  Centrica  •  ExxonMobil</a:t>
            </a:r>
          </a:p>
          <a:p>
            <a:pPr algn="ctr"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Glencore  •  Mercuria  •  Gunvor  •  Koch  •  Chevron  •  SEFE  •  Macquarie</a:t>
            </a:r>
          </a:p>
          <a:p>
            <a:pPr algn="ctr">
              <a:spcAft>
                <a:spcPts val="400"/>
              </a:spcAft>
              <a:defRPr sz="900">
                <a:solidFill>
                  <a:srgbClr val="2A385B"/>
                </a:solidFill>
              </a:defRPr>
            </a:pPr>
            <a:r>
              <a:t>Morgan Stanley  •  Goldman Sachs  •  JP Morgan  •  Citigroup  •  Natixis  •  70+ others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2340000"/>
            <a:ext cx="5400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15234A"/>
                </a:solidFill>
              </a:defRPr>
            </a:pPr>
            <a:r>
              <a:t>Service Delivery Model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24/7/365 dispatching from Cambridge control room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Dedicated TSO ops team (physically separate for compliance)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Shipper ops: nominations, scheduling, balancing, re-nominations</a:t>
            </a:r>
          </a:p>
          <a:p>
            <a:pPr>
              <a:spcAft>
                <a:spcPts val="300"/>
              </a:spcAft>
              <a:defRPr sz="900">
                <a:solidFill>
                  <a:srgbClr val="2A385B"/>
                </a:solidFill>
              </a:defRPr>
            </a:pPr>
            <a:r>
              <a:t>• Post-day allocations and regulatory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Clients &amp; Operations</a:t>
            </a:r>
            <a:r>
              <a:rPr sz="900">
                <a:solidFill>
                  <a:srgbClr val="65C4DA"/>
                </a:solidFill>
              </a:rPr>
              <a:t>    |   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34A"/>
                </a:solidFill>
              </a:defRPr>
            </a:pPr>
            <a:r>
              <a:t>Switching costs &amp; competitive moat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188000"/>
            <a:ext cx="3528000" cy="24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200+ counterparties via MessageRouter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Interfaces with TSOs, SSOs, LNG operators and exchanges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AS2, AS4, FTPS, SFTP and web services protocols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Core workflows where errors carry direct financial and regulatory consequences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3528000" cy="360000"/>
          </a:xfrm>
          <a:prstGeom prst="rect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Integration 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0" y="1188000"/>
            <a:ext cx="3528000" cy="24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Each TSO/SSO has its own protocols, deadlines and format requirements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B2B connections: 170+ market operators with varied Edig@s and AS4 implementations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Cumbersome processes and TSO-specific requirements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Bespoke arrangements for each connection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0" y="1188000"/>
            <a:ext cx="3528000" cy="360000"/>
          </a:xfrm>
          <a:prstGeom prst="rect">
            <a:avLst/>
          </a:prstGeom>
          <a:solidFill>
            <a:srgbClr val="B6C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Regulatory Barriers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0000" y="1188000"/>
            <a:ext cx="3528000" cy="24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Client-specific configurations built over years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Portfolio structures, nomination templates, matching rules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Trading system integrations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Transition increases operational error risk in financially penalised markets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00000" y="1188000"/>
            <a:ext cx="3528000" cy="360000"/>
          </a:xfrm>
          <a:prstGeom prst="rect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 Lock-in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888000"/>
            <a:ext cx="3528000" cy="23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Contract value (£20k-£150k/yr) vs switching cost (retraining, rebuilding TSO connections, re-certifying)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30 years of accumulated specialised knowledge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Cost of switching far exceeds annual fee — structural barrier to 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3888000"/>
            <a:ext cx="3528000" cy="360000"/>
          </a:xfrm>
          <a:prstGeom prst="rect">
            <a:avLst/>
          </a:prstGeom>
          <a:solidFill>
            <a:srgbClr val="B6C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Staff &amp; Knowledge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3888000"/>
            <a:ext cx="3528000" cy="23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5C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Quick software setup via MessageRouter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24/7 ops onboarding: training on client portfolios + TSO connectivity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Requires specialised energy market knowledge built over decades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0" y="3888000"/>
            <a:ext cx="3528000" cy="360000"/>
          </a:xfrm>
          <a:prstGeom prst="rect">
            <a:avLst/>
          </a:prstGeom>
          <a:solidFill>
            <a:srgbClr val="95C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Plug &amp; Play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Team &amp; organisation</a:t>
            </a:r>
            <a:r>
              <a:rPr sz="900">
                <a:solidFill>
                  <a:srgbClr val="65C4DA"/>
                </a:solidFill>
              </a:rPr>
              <a:t>    |   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34A"/>
                </a:solidFill>
              </a:defRPr>
            </a:pPr>
            <a:r>
              <a:t>Management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0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A385B"/>
                </a:solidFill>
              </a:defRPr>
            </a:pPr>
            <a:r>
              <a:t>Experienced and stable leadership team — most members with 15-20+ years tenure at GMSL</a:t>
            </a:r>
          </a:p>
        </p:txBody>
      </p:sp>
      <p:sp>
        <p:nvSpPr>
          <p:cNvPr id="5" name="Oval 4"/>
          <p:cNvSpPr/>
          <p:nvPr/>
        </p:nvSpPr>
        <p:spPr>
          <a:xfrm>
            <a:off x="540000" y="1512000"/>
            <a:ext cx="720000" cy="720000"/>
          </a:xfrm>
          <a:prstGeom prst="ellipse">
            <a:avLst/>
          </a:prstGeom>
          <a:solidFill>
            <a:srgbClr val="E5E5E5"/>
          </a:solidFill>
          <a:ln w="1270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7999" y="1512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4A"/>
                </a:solidFill>
              </a:defRPr>
            </a:pPr>
            <a:r>
              <a:t>Steven De Ranter</a:t>
            </a:r>
          </a:p>
          <a:p>
            <a:pPr>
              <a:defRPr sz="800" b="1">
                <a:solidFill>
                  <a:srgbClr val="65C4DA"/>
                </a:solidFill>
              </a:defRPr>
            </a:pPr>
            <a:r>
              <a:t>CEO &amp; Director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304000"/>
            <a:ext cx="35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A385B"/>
                </a:solidFill>
              </a:defRPr>
            </a:pPr>
            <a:r>
              <a:t>MD of GMSL since 2023, MD of Interconnector Ltd since 2018. Prior M&amp;A and business development at Fluxys. Services GMSL c.1 day/week via management services agreement</a:t>
            </a:r>
          </a:p>
        </p:txBody>
      </p:sp>
      <p:sp>
        <p:nvSpPr>
          <p:cNvPr id="8" name="Oval 7"/>
          <p:cNvSpPr/>
          <p:nvPr/>
        </p:nvSpPr>
        <p:spPr>
          <a:xfrm>
            <a:off x="4320000" y="1512000"/>
            <a:ext cx="720000" cy="720000"/>
          </a:xfrm>
          <a:prstGeom prst="ellipse">
            <a:avLst/>
          </a:prstGeom>
          <a:solidFill>
            <a:srgbClr val="E5E5E5"/>
          </a:solidFill>
          <a:ln w="1270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7999" y="1512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4A"/>
                </a:solidFill>
              </a:defRPr>
            </a:pPr>
            <a:r>
              <a:t>George Wych</a:t>
            </a:r>
          </a:p>
          <a:p>
            <a:pPr>
              <a:defRPr sz="800" b="1">
                <a:solidFill>
                  <a:srgbClr val="65C4DA"/>
                </a:solidFill>
              </a:defRPr>
            </a:pPr>
            <a:r>
              <a:t>COO &amp; Director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2304000"/>
            <a:ext cx="35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A385B"/>
                </a:solidFill>
              </a:defRPr>
            </a:pPr>
            <a:r>
              <a:t>Day-to-day operational leadership of GMSL. Long tenure with the company</a:t>
            </a:r>
          </a:p>
        </p:txBody>
      </p:sp>
      <p:sp>
        <p:nvSpPr>
          <p:cNvPr id="11" name="Oval 10"/>
          <p:cNvSpPr/>
          <p:nvPr/>
        </p:nvSpPr>
        <p:spPr>
          <a:xfrm>
            <a:off x="8100000" y="1512000"/>
            <a:ext cx="720000" cy="720000"/>
          </a:xfrm>
          <a:prstGeom prst="ellipse">
            <a:avLst/>
          </a:prstGeom>
          <a:solidFill>
            <a:srgbClr val="E5E5E5"/>
          </a:solidFill>
          <a:ln w="1270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7999" y="1512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4A"/>
                </a:solidFill>
              </a:defRPr>
            </a:pPr>
            <a:r>
              <a:t>David Baldwin</a:t>
            </a:r>
          </a:p>
          <a:p>
            <a:pPr>
              <a:defRPr sz="800" b="1">
                <a:solidFill>
                  <a:srgbClr val="65C4DA"/>
                </a:solidFill>
              </a:defRPr>
            </a:pPr>
            <a:r>
              <a:t>IT &amp; Software Dev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0000" y="2304000"/>
            <a:ext cx="35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A385B"/>
                </a:solidFill>
              </a:defRPr>
            </a:pPr>
            <a:r>
              <a:t>Leads 40-person IT department (20 developers, 11 product owners, 9 testers, 4 cloud engineers)</a:t>
            </a:r>
          </a:p>
        </p:txBody>
      </p:sp>
      <p:sp>
        <p:nvSpPr>
          <p:cNvPr id="14" name="Oval 13"/>
          <p:cNvSpPr/>
          <p:nvPr/>
        </p:nvSpPr>
        <p:spPr>
          <a:xfrm>
            <a:off x="540000" y="3168000"/>
            <a:ext cx="720000" cy="720000"/>
          </a:xfrm>
          <a:prstGeom prst="ellipse">
            <a:avLst/>
          </a:prstGeom>
          <a:solidFill>
            <a:srgbClr val="E5E5E5"/>
          </a:solidFill>
          <a:ln w="1270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7999" y="3168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4A"/>
                </a:solidFill>
              </a:defRPr>
            </a:pPr>
            <a:r>
              <a:t>Colin Saward</a:t>
            </a:r>
          </a:p>
          <a:p>
            <a:pPr>
              <a:defRPr sz="800" b="1">
                <a:solidFill>
                  <a:srgbClr val="65C4DA"/>
                </a:solidFill>
              </a:defRPr>
            </a:pPr>
            <a:r>
              <a:t>Operations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960000"/>
            <a:ext cx="35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A385B"/>
                </a:solidFill>
              </a:defRPr>
            </a:pPr>
            <a:r>
              <a:t>Manages 60-person 24/7 operations team (shipper ops, TSO ops, CVA)</a:t>
            </a:r>
          </a:p>
        </p:txBody>
      </p:sp>
      <p:sp>
        <p:nvSpPr>
          <p:cNvPr id="17" name="Oval 16"/>
          <p:cNvSpPr/>
          <p:nvPr/>
        </p:nvSpPr>
        <p:spPr>
          <a:xfrm>
            <a:off x="4320000" y="3168000"/>
            <a:ext cx="720000" cy="720000"/>
          </a:xfrm>
          <a:prstGeom prst="ellipse">
            <a:avLst/>
          </a:prstGeom>
          <a:solidFill>
            <a:srgbClr val="E5E5E5"/>
          </a:solidFill>
          <a:ln w="1270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7999" y="3168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4A"/>
                </a:solidFill>
              </a:defRPr>
            </a:pPr>
            <a:r>
              <a:t>Laurence Beer</a:t>
            </a:r>
          </a:p>
          <a:p>
            <a:pPr>
              <a:defRPr sz="800" b="1">
                <a:solidFill>
                  <a:srgbClr val="65C4DA"/>
                </a:solidFill>
              </a:defRPr>
            </a:pPr>
            <a:r>
              <a:t>Financial 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0" y="3960000"/>
            <a:ext cx="35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A385B"/>
                </a:solidFill>
              </a:defRPr>
            </a:pPr>
            <a:r>
              <a:t>Leads 2-person finance team covering financial reporting and administration</a:t>
            </a:r>
          </a:p>
        </p:txBody>
      </p:sp>
      <p:sp>
        <p:nvSpPr>
          <p:cNvPr id="20" name="Oval 19"/>
          <p:cNvSpPr/>
          <p:nvPr/>
        </p:nvSpPr>
        <p:spPr>
          <a:xfrm>
            <a:off x="8100000" y="3168000"/>
            <a:ext cx="720000" cy="720000"/>
          </a:xfrm>
          <a:prstGeom prst="ellipse">
            <a:avLst/>
          </a:prstGeom>
          <a:solidFill>
            <a:srgbClr val="E5E5E5"/>
          </a:solidFill>
          <a:ln w="1270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7999" y="3168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4A"/>
                </a:solidFill>
              </a:defRPr>
            </a:pPr>
            <a:r>
              <a:t>Lucy Savage</a:t>
            </a:r>
          </a:p>
          <a:p>
            <a:pPr>
              <a:defRPr sz="800" b="1">
                <a:solidFill>
                  <a:srgbClr val="65C4DA"/>
                </a:solidFill>
              </a:defRPr>
            </a:pPr>
            <a:r>
              <a:t>Commercial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0000" y="3960000"/>
            <a:ext cx="35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A385B"/>
                </a:solidFill>
              </a:defRPr>
            </a:pPr>
            <a:r>
              <a:t>Started in operations team — deep product and client knowledge</a:t>
            </a:r>
          </a:p>
        </p:txBody>
      </p:sp>
      <p:sp>
        <p:nvSpPr>
          <p:cNvPr id="23" name="Oval 22"/>
          <p:cNvSpPr/>
          <p:nvPr/>
        </p:nvSpPr>
        <p:spPr>
          <a:xfrm>
            <a:off x="540000" y="4823999"/>
            <a:ext cx="720000" cy="720000"/>
          </a:xfrm>
          <a:prstGeom prst="ellipse">
            <a:avLst/>
          </a:prstGeom>
          <a:solidFill>
            <a:srgbClr val="E5E5E5"/>
          </a:solidFill>
          <a:ln w="1270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7999" y="4823999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4A"/>
                </a:solidFill>
              </a:defRPr>
            </a:pPr>
            <a:r>
              <a:t>Paul Simpson</a:t>
            </a:r>
          </a:p>
          <a:p>
            <a:pPr>
              <a:defRPr sz="800" b="1">
                <a:solidFill>
                  <a:srgbClr val="65C4DA"/>
                </a:solidFill>
              </a:defRPr>
            </a:pPr>
            <a:r>
              <a:t>Commercial 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5615999"/>
            <a:ext cx="35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A385B"/>
                </a:solidFill>
              </a:defRPr>
            </a:pPr>
            <a:r>
              <a:t>Started in operations team — deep product and client knowledge</a:t>
            </a:r>
          </a:p>
        </p:txBody>
      </p:sp>
      <p:sp>
        <p:nvSpPr>
          <p:cNvPr id="26" name="Oval 25"/>
          <p:cNvSpPr/>
          <p:nvPr/>
        </p:nvSpPr>
        <p:spPr>
          <a:xfrm>
            <a:off x="4320000" y="4823999"/>
            <a:ext cx="720000" cy="720000"/>
          </a:xfrm>
          <a:prstGeom prst="ellipse">
            <a:avLst/>
          </a:prstGeom>
          <a:solidFill>
            <a:srgbClr val="E5E5E5"/>
          </a:solidFill>
          <a:ln w="1270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7999" y="4823999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4A"/>
                </a:solidFill>
              </a:defRPr>
            </a:pPr>
            <a:r>
              <a:t>Shaun Lipscombe</a:t>
            </a:r>
          </a:p>
          <a:p>
            <a:pPr>
              <a:defRPr sz="800" b="1">
                <a:solidFill>
                  <a:srgbClr val="65C4DA"/>
                </a:solidFill>
              </a:defRPr>
            </a:pPr>
            <a:r>
              <a:t>Information Security Mgr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0" y="5615999"/>
            <a:ext cx="35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A385B"/>
                </a:solidFill>
              </a:defRPr>
            </a:pPr>
            <a:r>
              <a:t>Leads 3-person infosec team. ISO 27001 (Nov 2025), CyberVadis Gold (932)</a:t>
            </a:r>
          </a:p>
        </p:txBody>
      </p:sp>
      <p:sp>
        <p:nvSpPr>
          <p:cNvPr id="29" name="Oval 28"/>
          <p:cNvSpPr/>
          <p:nvPr/>
        </p:nvSpPr>
        <p:spPr>
          <a:xfrm>
            <a:off x="8100000" y="4823999"/>
            <a:ext cx="720000" cy="720000"/>
          </a:xfrm>
          <a:prstGeom prst="ellipse">
            <a:avLst/>
          </a:prstGeom>
          <a:solidFill>
            <a:srgbClr val="E5E5E5"/>
          </a:solidFill>
          <a:ln w="1270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27999" y="4823999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4A"/>
                </a:solidFill>
              </a:defRPr>
            </a:pPr>
            <a:r>
              <a:t>Anja Irwin</a:t>
            </a:r>
          </a:p>
          <a:p>
            <a:pPr>
              <a:defRPr sz="800" b="1">
                <a:solidFill>
                  <a:srgbClr val="65C4DA"/>
                </a:solidFill>
              </a:defRPr>
            </a:pPr>
            <a:r>
              <a:t>Head of HR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0000" y="5615999"/>
            <a:ext cx="35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A385B"/>
                </a:solidFill>
              </a:defRPr>
            </a:pPr>
            <a:r>
              <a:t>2 years with GMSL. Manages HR operations and employee engagement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Team &amp; organisation</a:t>
            </a:r>
            <a:r>
              <a:rPr sz="900">
                <a:solidFill>
                  <a:srgbClr val="65C4DA"/>
                </a:solidFill>
              </a:rPr>
              <a:t>    |   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34A"/>
                </a:solidFill>
              </a:defRPr>
            </a:pPr>
            <a:r>
              <a:t>Zoom on important divisions (1/X)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188000"/>
            <a:ext cx="11160000" cy="540000"/>
          </a:xfrm>
          <a:prstGeom prst="roundRect">
            <a:avLst/>
          </a:prstGeom>
          <a:solidFill>
            <a:srgbClr val="1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Total Headcount: 118 FTEs (excl. COO) — All Cambridge-based except CVA team (Birmingham) — Minimal contractor use (£100k FY26F)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980000"/>
            <a:ext cx="2088000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200"/>
              </a:spcBef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3 Team Leaders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6 Shift Leaders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16 Senior Operators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13 Junior Operators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Liaison TL, Power TL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Training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980000"/>
            <a:ext cx="2088000" cy="540000"/>
          </a:xfrm>
          <a:prstGeom prst="rect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Shipper Ops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45 FTEs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8000" y="1980000"/>
            <a:ext cx="2088000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200"/>
              </a:spcBef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1 Manager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2 Team Leaders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6 Senior Operators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6 Junior Operators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Physically separate for compliance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8000" y="1980000"/>
            <a:ext cx="2088000" cy="540000"/>
          </a:xfrm>
          <a:prstGeom prst="rect">
            <a:avLst/>
          </a:prstGeom>
          <a:solidFill>
            <a:srgbClr val="B6C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TSO Ops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15 FTEs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6000" y="1980000"/>
            <a:ext cx="2088000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200"/>
              </a:spcBef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20 Developers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11 Product Owners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9 Testers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4 Cloud Engineers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100% in-house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6000" y="1980000"/>
            <a:ext cx="2088000" cy="540000"/>
          </a:xfrm>
          <a:prstGeom prst="rect">
            <a:avLst/>
          </a:prstGeom>
          <a:solidFill>
            <a:srgbClr val="65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40 FTEs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43999" y="1980000"/>
            <a:ext cx="2088000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C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200"/>
              </a:spcBef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Network management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Hardware support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DR facility operations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43999" y="1980000"/>
            <a:ext cx="2088000" cy="540000"/>
          </a:xfrm>
          <a:prstGeom prst="rect">
            <a:avLst/>
          </a:prstGeom>
          <a:solidFill>
            <a:srgbClr val="B6C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Infrastructure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6 FTEs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12000" y="1980000"/>
            <a:ext cx="2088000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5C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200"/>
              </a:spcBef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Infosec: 3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Commercial: 3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Finance: 2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HR: 2</a:t>
            </a:r>
          </a:p>
          <a:p>
            <a:pPr>
              <a:spcAft>
                <a:spcPts val="300"/>
              </a:spcAft>
              <a:defRPr sz="800">
                <a:solidFill>
                  <a:srgbClr val="2A385B"/>
                </a:solidFill>
              </a:defRPr>
            </a:pPr>
            <a:r>
              <a:t>• CVA: 3 (Birmingham)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12000" y="1980000"/>
            <a:ext cx="2088000" cy="540000"/>
          </a:xfrm>
          <a:prstGeom prst="rect">
            <a:avLst/>
          </a:prstGeom>
          <a:solidFill>
            <a:srgbClr val="95C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Other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12 FTEs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5400000"/>
            <a:ext cx="11160000" cy="900000"/>
          </a:xfrm>
          <a:prstGeom prst="roundRect">
            <a:avLst/>
          </a:prstGeom>
          <a:solidFill>
            <a:srgbClr val="F8F0E0"/>
          </a:solidFill>
          <a:ln w="9525">
            <a:solidFill>
              <a:srgbClr val="E0C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000" b="1">
                <a:solidFill>
                  <a:srgbClr val="15234A"/>
                </a:solidFill>
              </a:defRPr>
            </a:pPr>
            <a:r>
              <a:t>Key Challenge &amp; Strategy</a:t>
            </a:r>
          </a:p>
          <a:p>
            <a:pPr>
              <a:spcAft>
                <a:spcPts val="200"/>
              </a:spcAft>
              <a:defRPr sz="800">
                <a:solidFill>
                  <a:srgbClr val="2A385B"/>
                </a:solidFill>
              </a:defRPr>
            </a:pPr>
            <a:r>
              <a:t>• Frequent turnover in 24/7 operations due to night shifts → requires continuous recruitment and training investment</a:t>
            </a:r>
          </a:p>
          <a:p>
            <a:pPr>
              <a:defRPr sz="800">
                <a:solidFill>
                  <a:srgbClr val="2A385B"/>
                </a:solidFill>
              </a:defRPr>
            </a:pPr>
            <a:r>
              <a:t>• Strategy focuses on employee engagement, learning and development programmes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648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99999"/>
                </a:solidFill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